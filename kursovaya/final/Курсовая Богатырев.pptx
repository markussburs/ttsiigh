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1224" y="3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verOverlay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8" name="Group 7"/>
          <p:cNvGrpSpPr/>
          <p:nvPr/>
        </p:nvGrpSpPr>
        <p:grpSpPr>
          <a:xfrm>
            <a:off x="1194101" y="2887530"/>
            <a:ext cx="6779110" cy="923330"/>
            <a:chOff x="1172584" y="1381459"/>
            <a:chExt cx="6779110" cy="923330"/>
          </a:xfrm>
          <a:effectLst>
            <a:outerShdw blurRad="38100" dist="12700" dir="16200000" rotWithShape="0">
              <a:prstClr val="black">
                <a:alpha val="30000"/>
              </a:prstClr>
            </a:outerShdw>
          </a:effectLst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ln w="3175">
                    <a:solidFill>
                      <a:schemeClr val="tx2">
                        <a:alpha val="60000"/>
                      </a:schemeClr>
                    </a:solidFill>
                  </a:ln>
                  <a:solidFill>
                    <a:schemeClr val="tx2">
                      <a:lumMod val="90000"/>
                    </a:schemeClr>
                  </a:solidFill>
                  <a:effectLst>
                    <a:outerShdw blurRad="34925" dist="12700" dir="14400000" algn="ctr" rotWithShape="0">
                      <a:srgbClr val="000000">
                        <a:alpha val="21000"/>
                      </a:srgbClr>
                    </a:outerShdw>
                  </a:effectLst>
                  <a:latin typeface="Wingdings" pitchFamily="2" charset="2"/>
                </a:rPr>
                <a:t></a:t>
              </a:r>
              <a:endParaRPr lang="en-US" sz="5400" dirty="0">
                <a:ln w="3175">
                  <a:solidFill>
                    <a:schemeClr val="tx2">
                      <a:alpha val="60000"/>
                    </a:schemeClr>
                  </a:solidFill>
                </a:ln>
                <a:solidFill>
                  <a:schemeClr val="tx2">
                    <a:lumMod val="90000"/>
                  </a:schemeClr>
                </a:solidFill>
                <a:effectLst>
                  <a:outerShdw blurRad="34925" dist="12700" dir="14400000" algn="ctr" rotWithShape="0">
                    <a:srgbClr val="000000">
                      <a:alpha val="21000"/>
                    </a:srgbClr>
                  </a:outerShdw>
                </a:effectLst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293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3341" y="1387737"/>
            <a:ext cx="6777318" cy="1731982"/>
          </a:xfrm>
        </p:spPr>
        <p:txBody>
          <a:bodyPr anchor="b"/>
          <a:lstStyle>
            <a:lvl1pPr>
              <a:defRPr>
                <a:ln w="3175">
                  <a:solidFill>
                    <a:schemeClr val="tx1">
                      <a:alpha val="65000"/>
                    </a:schemeClr>
                  </a:solidFill>
                </a:ln>
                <a:solidFill>
                  <a:schemeClr val="tx1"/>
                </a:solidFill>
                <a:effectLst>
                  <a:outerShdw blurRad="25400" dist="12700" dir="14220000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effectLst>
                  <a:outerShdw blurRad="34925" dist="12700" dir="14400000" rotWithShape="0">
                    <a:prstClr val="black">
                      <a:alpha val="21000"/>
                    </a:prstClr>
                  </a:outerShdw>
                </a:effectLst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4" name="Straight Connector 13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overOverlay.png"/>
          <p:cNvPicPr>
            <a:picLocks noChangeAspect="1"/>
          </p:cNvPicPr>
          <p:nvPr/>
        </p:nvPicPr>
        <p:blipFill>
          <a:blip r:embed="rId2" cstate="print">
            <a:lum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1172584" y="2887579"/>
            <a:ext cx="6779110" cy="923330"/>
            <a:chOff x="1172584" y="1381459"/>
            <a:chExt cx="6779110" cy="923330"/>
          </a:xfrm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7412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040" y="1204857"/>
            <a:ext cx="7754713" cy="1910716"/>
          </a:xfrm>
        </p:spPr>
        <p:txBody>
          <a:bodyPr anchor="b"/>
          <a:lstStyle>
            <a:lvl1pPr algn="ctr">
              <a:defRPr sz="5400" b="0" cap="none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8" y="3767316"/>
            <a:ext cx="7734747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85800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4645151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2240280"/>
            <a:ext cx="3442446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8488" y="2947595"/>
            <a:ext cx="3803904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02306" y="2240280"/>
            <a:ext cx="3447288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944368"/>
            <a:ext cx="3799728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4" name="Group 13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6" name="TextBox 15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7" name="Straight Connector 16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0" name="Group 9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4579" y="1678195"/>
            <a:ext cx="3422483" cy="1886921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001" y="559398"/>
            <a:ext cx="4116667" cy="5566765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4579" y="3603812"/>
            <a:ext cx="3411725" cy="251728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731" y="4668818"/>
            <a:ext cx="7767021" cy="644729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240000">
            <a:off x="2183792" y="666965"/>
            <a:ext cx="4772156" cy="3598016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24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8489" y="5324306"/>
            <a:ext cx="7756264" cy="80486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6" name="Straight Connector 15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6560" y="559398"/>
            <a:ext cx="1678193" cy="556676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8488" y="849854"/>
            <a:ext cx="5507917" cy="502382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 rot="5400000">
            <a:off x="3909050" y="2880823"/>
            <a:ext cx="5480154" cy="923330"/>
            <a:chOff x="1815339" y="1381459"/>
            <a:chExt cx="5480154" cy="923330"/>
          </a:xfrm>
        </p:grpSpPr>
        <p:sp>
          <p:nvSpPr>
            <p:cNvPr id="12" name="TextBox 11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3" name="Straight Connector 12"/>
            <p:cNvCxnSpPr/>
            <p:nvPr/>
          </p:nvCxnSpPr>
          <p:spPr>
            <a:xfrm flipH="1" flipV="1">
              <a:off x="1815339" y="1924709"/>
              <a:ext cx="2468880" cy="2505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4826613" y="1927417"/>
              <a:ext cx="2468880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83000">
                <a:schemeClr val="bg1">
                  <a:alpha val="11000"/>
                </a:schemeClr>
              </a:gs>
              <a:gs pos="100000">
                <a:schemeClr val="bg2">
                  <a:lumMod val="75000"/>
                  <a:alpha val="23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8490" y="570156"/>
            <a:ext cx="7756263" cy="1054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7" y="2248347"/>
            <a:ext cx="7745505" cy="38778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0378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6144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39264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6576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7724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"/>
        <a:defRPr sz="2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0876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14884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78892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4000" dirty="0"/>
              <a:t>Проектирование информационной системы «Страховая компания»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7448872" cy="1752600"/>
          </a:xfrm>
        </p:spPr>
        <p:txBody>
          <a:bodyPr/>
          <a:lstStyle/>
          <a:p>
            <a:pPr algn="r"/>
            <a:r>
              <a:rPr lang="ru-RU" dirty="0" smtClean="0"/>
              <a:t>Группа </a:t>
            </a:r>
            <a:r>
              <a:rPr lang="ru-RU" dirty="0" err="1" smtClean="0"/>
              <a:t>ИСиП</a:t>
            </a:r>
            <a:r>
              <a:rPr lang="ru-RU" dirty="0" smtClean="0"/>
              <a:t> 25-11-1</a:t>
            </a:r>
          </a:p>
          <a:p>
            <a:pPr algn="r"/>
            <a:r>
              <a:rPr lang="ru-RU" dirty="0" smtClean="0"/>
              <a:t>Богатырев Максим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Почему эта тема важна сегодня</a:t>
            </a:r>
            <a:r>
              <a:rPr lang="ru-RU" dirty="0" smtClean="0"/>
              <a:t>?</a:t>
            </a:r>
            <a:endParaRPr lang="ru-RU" dirty="0"/>
          </a:p>
          <a:p>
            <a:r>
              <a:rPr lang="ru-RU" dirty="0"/>
              <a:t>Количество машин на дорогах России ежегодно растёт на 3–5</a:t>
            </a:r>
            <a:r>
              <a:rPr lang="ru-RU" dirty="0" smtClean="0"/>
              <a:t>%.</a:t>
            </a:r>
            <a:endParaRPr lang="ru-RU" dirty="0"/>
          </a:p>
          <a:p>
            <a:r>
              <a:rPr lang="ru-RU" dirty="0"/>
              <a:t>Но многие страховые компании до сих пор работают в </a:t>
            </a:r>
            <a:r>
              <a:rPr lang="ru-RU" dirty="0" err="1"/>
              <a:t>Excel</a:t>
            </a:r>
            <a:r>
              <a:rPr lang="ru-RU" dirty="0"/>
              <a:t> и на бумаге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Последствия: ошибки в расчётах, потерянные заявления, задержки выплат, недовольные клиенты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Законодательство (№ 40-ФЗ) требует строгих сроков выплат.</a:t>
            </a:r>
          </a:p>
          <a:p>
            <a:r>
              <a:rPr lang="ru-RU" dirty="0"/>
              <a:t>Поэтому нужна централизованная информационная система, которая автоматизирует всё: от заявки до выплаты.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</a:t>
            </a:r>
            <a:r>
              <a:rPr lang="ru-RU" dirty="0" smtClean="0"/>
              <a:t>работы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6881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460573"/>
          </a:xfrm>
        </p:spPr>
        <p:txBody>
          <a:bodyPr/>
          <a:lstStyle/>
          <a:p>
            <a:r>
              <a:rPr lang="ru-RU" dirty="0"/>
              <a:t>Система закрывает два главных бизнес-процесса.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Что </a:t>
            </a:r>
            <a:r>
              <a:rPr lang="ru-RU" b="1" dirty="0" smtClean="0"/>
              <a:t>автоматизируем</a:t>
            </a:r>
            <a:endParaRPr lang="ru-RU" dirty="0"/>
          </a:p>
        </p:txBody>
      </p:sp>
      <p:sp>
        <p:nvSpPr>
          <p:cNvPr id="4" name="Объект 1"/>
          <p:cNvSpPr txBox="1">
            <a:spLocks/>
          </p:cNvSpPr>
          <p:nvPr/>
        </p:nvSpPr>
        <p:spPr>
          <a:xfrm>
            <a:off x="71861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Первый </a:t>
            </a:r>
            <a:r>
              <a:rPr lang="en-US" b="1" dirty="0" smtClean="0"/>
              <a:t>- </a:t>
            </a:r>
            <a:r>
              <a:rPr lang="ru-RU" b="1" dirty="0" smtClean="0"/>
              <a:t>заключение </a:t>
            </a:r>
            <a:r>
              <a:rPr lang="ru-RU" b="1" dirty="0"/>
              <a:t>договора страхования:</a:t>
            </a:r>
            <a:endParaRPr lang="ru-RU" dirty="0"/>
          </a:p>
          <a:p>
            <a:r>
              <a:rPr lang="ru-RU" dirty="0"/>
              <a:t>Клиент оставляет заявку.</a:t>
            </a:r>
          </a:p>
          <a:p>
            <a:r>
              <a:rPr lang="ru-RU" dirty="0"/>
              <a:t>Менеджер рассчитывает стоимость.</a:t>
            </a:r>
          </a:p>
          <a:p>
            <a:r>
              <a:rPr lang="ru-RU" dirty="0"/>
              <a:t>Клиент оплачивает онлайн.</a:t>
            </a:r>
          </a:p>
          <a:p>
            <a:r>
              <a:rPr lang="ru-RU" dirty="0"/>
              <a:t>Система выдаёт электронный полис.</a:t>
            </a:r>
            <a:endParaRPr lang="ru-RU" dirty="0"/>
          </a:p>
        </p:txBody>
      </p:sp>
      <p:sp>
        <p:nvSpPr>
          <p:cNvPr id="5" name="Объект 1"/>
          <p:cNvSpPr txBox="1">
            <a:spLocks/>
          </p:cNvSpPr>
          <p:nvPr/>
        </p:nvSpPr>
        <p:spPr>
          <a:xfrm>
            <a:off x="458419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Второй </a:t>
            </a:r>
            <a:r>
              <a:rPr lang="en-US" b="1" dirty="0" smtClean="0"/>
              <a:t>- </a:t>
            </a:r>
            <a:r>
              <a:rPr lang="ru-RU" b="1" dirty="0" smtClean="0"/>
              <a:t>урегулирование </a:t>
            </a:r>
            <a:r>
              <a:rPr lang="ru-RU" b="1" dirty="0"/>
              <a:t>убытков (ДТП):</a:t>
            </a:r>
            <a:endParaRPr lang="ru-RU" dirty="0"/>
          </a:p>
          <a:p>
            <a:r>
              <a:rPr lang="ru-RU" dirty="0"/>
              <a:t>Клиент сообщает о страховом случае.</a:t>
            </a:r>
          </a:p>
          <a:p>
            <a:r>
              <a:rPr lang="ru-RU" dirty="0"/>
              <a:t>Менеджер регистрирует ДТП.</a:t>
            </a:r>
          </a:p>
          <a:p>
            <a:r>
              <a:rPr lang="ru-RU" dirty="0"/>
              <a:t>Оценщик рассчитывает ущерб.</a:t>
            </a:r>
          </a:p>
          <a:p>
            <a:r>
              <a:rPr lang="ru-RU" dirty="0"/>
              <a:t>Система формирует выплату.</a:t>
            </a:r>
          </a:p>
        </p:txBody>
      </p:sp>
    </p:spTree>
    <p:extLst>
      <p:ext uri="{BB962C8B-B14F-4D97-AF65-F5344CB8AC3E}">
        <p14:creationId xmlns:p14="http://schemas.microsoft.com/office/powerpoint/2010/main" val="2738134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системе 4 типа пользователей с разными ролями</a:t>
            </a:r>
            <a:r>
              <a:rPr lang="ru-RU" dirty="0" smtClean="0"/>
              <a:t>.</a:t>
            </a:r>
            <a:endParaRPr lang="en-US" dirty="0" smtClean="0"/>
          </a:p>
          <a:p>
            <a:pPr marL="0" indent="0">
              <a:buNone/>
            </a:pPr>
            <a:r>
              <a:rPr lang="ru-RU" b="1" dirty="0"/>
              <a:t>Клиент:</a:t>
            </a:r>
            <a:endParaRPr lang="ru-RU" dirty="0"/>
          </a:p>
          <a:p>
            <a:r>
              <a:rPr lang="ru-RU" dirty="0"/>
              <a:t>Оформляет полисы, платит, заявляет о ДТП, следит за выплатами.</a:t>
            </a:r>
          </a:p>
          <a:p>
            <a:pPr marL="0" indent="0">
              <a:buNone/>
            </a:pPr>
            <a:r>
              <a:rPr lang="ru-RU" b="1" dirty="0"/>
              <a:t>Менеджер:</a:t>
            </a:r>
            <a:endParaRPr lang="ru-RU" dirty="0"/>
          </a:p>
          <a:p>
            <a:r>
              <a:rPr lang="ru-RU" dirty="0"/>
              <a:t>Обрабатывает заявки, рассчитывает страховку, регистрирует страховые случаи.</a:t>
            </a:r>
          </a:p>
          <a:p>
            <a:pPr marL="0" indent="0">
              <a:buNone/>
            </a:pPr>
            <a:r>
              <a:rPr lang="ru-RU" b="1" dirty="0"/>
              <a:t>Оценщик:</a:t>
            </a:r>
            <a:endParaRPr lang="ru-RU" dirty="0"/>
          </a:p>
          <a:p>
            <a:r>
              <a:rPr lang="ru-RU" dirty="0"/>
              <a:t>Вносит результаты осмотра автомобиля.</a:t>
            </a:r>
          </a:p>
          <a:p>
            <a:pPr marL="0" indent="0">
              <a:buNone/>
            </a:pPr>
            <a:r>
              <a:rPr lang="ru-RU" b="1" dirty="0"/>
              <a:t>Администратор:</a:t>
            </a:r>
            <a:endParaRPr lang="ru-RU" dirty="0"/>
          </a:p>
          <a:p>
            <a:r>
              <a:rPr lang="ru-RU" dirty="0"/>
              <a:t>Ведёт справочники, управляет пользователями, делает </a:t>
            </a:r>
            <a:r>
              <a:rPr lang="ru-RU" dirty="0" err="1"/>
              <a:t>бэкапы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Кто пользуется </a:t>
            </a:r>
            <a:r>
              <a:rPr lang="ru-RU" b="1" dirty="0" smtClean="0"/>
              <a:t>системой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170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 проанализировал, что есть на рынке.</a:t>
            </a:r>
          </a:p>
          <a:p>
            <a:r>
              <a:rPr lang="ru-RU" b="1" dirty="0"/>
              <a:t>«1С:Страховая компания»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дорого</a:t>
            </a:r>
            <a:r>
              <a:rPr lang="ru-RU" dirty="0"/>
              <a:t>, избыточно, сложно дорабатывать, слабый веб-интерфейс.</a:t>
            </a:r>
          </a:p>
          <a:p>
            <a:r>
              <a:rPr lang="ru-RU" b="1" dirty="0"/>
              <a:t>«ИНСИСТРАХ»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ежегодная </a:t>
            </a:r>
            <a:r>
              <a:rPr lang="ru-RU" dirty="0"/>
              <a:t>плата, неудобный интерфейс.</a:t>
            </a:r>
          </a:p>
          <a:p>
            <a:r>
              <a:rPr lang="ru-RU" b="1" dirty="0"/>
              <a:t>Модуль в SAP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только </a:t>
            </a:r>
            <a:r>
              <a:rPr lang="ru-RU" dirty="0"/>
              <a:t>для гигантов, астрономическая цена.</a:t>
            </a:r>
          </a:p>
          <a:p>
            <a:r>
              <a:rPr lang="ru-RU" b="1" dirty="0"/>
              <a:t>Моя система:</a:t>
            </a:r>
            <a:endParaRPr lang="ru-RU" dirty="0"/>
          </a:p>
          <a:p>
            <a:r>
              <a:rPr lang="ru-RU" dirty="0"/>
              <a:t>Низкая </a:t>
            </a:r>
            <a:r>
              <a:rPr lang="ru-RU" dirty="0" smtClean="0"/>
              <a:t>стоимость.</a:t>
            </a:r>
            <a:endParaRPr lang="ru-RU" dirty="0"/>
          </a:p>
          <a:p>
            <a:r>
              <a:rPr lang="ru-RU" dirty="0"/>
              <a:t>Высокая гибкость.</a:t>
            </a:r>
          </a:p>
          <a:p>
            <a:r>
              <a:rPr lang="ru-RU" dirty="0"/>
              <a:t>Заточена именно под автострахование.</a:t>
            </a:r>
          </a:p>
          <a:p>
            <a:r>
              <a:rPr lang="ru-RU" dirty="0"/>
              <a:t>Полноценный веб-интерфейс для клиентов и сотрудников.</a:t>
            </a:r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Сравнение с </a:t>
            </a:r>
            <a:r>
              <a:rPr lang="ru-RU" b="1" dirty="0" smtClean="0"/>
              <a:t>аналогами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573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833193" cy="1684709"/>
          </a:xfrm>
        </p:spPr>
        <p:txBody>
          <a:bodyPr>
            <a:normAutofit fontScale="70000" lnSpcReduction="20000"/>
          </a:bodyPr>
          <a:lstStyle/>
          <a:p>
            <a:r>
              <a:rPr lang="ru-RU" b="1" dirty="0"/>
              <a:t>IDEF0 (контекстная диаграмма):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Показал систему как «чёрный ящик»:</a:t>
            </a:r>
          </a:p>
          <a:p>
            <a:r>
              <a:rPr lang="ru-RU" dirty="0"/>
              <a:t>Входы: заявка, заявление о ДТП, оплата.</a:t>
            </a:r>
          </a:p>
          <a:p>
            <a:r>
              <a:rPr lang="ru-RU" dirty="0"/>
              <a:t>Выходы: полис, выплата, уведомления.</a:t>
            </a:r>
          </a:p>
          <a:p>
            <a:r>
              <a:rPr lang="ru-RU" dirty="0"/>
              <a:t>Управление: законы (№ 40-ФЗ), регламенты компании.</a:t>
            </a:r>
          </a:p>
          <a:p>
            <a:r>
              <a:rPr lang="ru-RU" dirty="0"/>
              <a:t>Механизмы: сотрудники, сама ИС.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</a:t>
            </a:r>
            <a:r>
              <a:rPr lang="ru-RU" b="1" dirty="0"/>
              <a:t>ь</a:t>
            </a:r>
            <a:r>
              <a:rPr lang="ru-RU" b="1" dirty="0" smtClean="0"/>
              <a:t> </a:t>
            </a:r>
            <a:r>
              <a:rPr lang="en-US" b="1" dirty="0" smtClean="0"/>
              <a:t>IDEF0</a:t>
            </a:r>
            <a:endParaRPr lang="ru-RU" dirty="0"/>
          </a:p>
        </p:txBody>
      </p:sp>
      <p:pic>
        <p:nvPicPr>
          <p:cNvPr id="1028" name="Picture 4" descr="C:\Users\priko\Downloads\IDEF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561" y="3789040"/>
            <a:ext cx="5851541" cy="306896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98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72753" cy="3877815"/>
          </a:xfrm>
        </p:spPr>
        <p:txBody>
          <a:bodyPr/>
          <a:lstStyle/>
          <a:p>
            <a:r>
              <a:rPr lang="ru-RU" dirty="0"/>
              <a:t>Показал, как движутся данные между процессами и хранилищами: от заявки клиента до выплаты.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Модель</a:t>
            </a:r>
            <a:r>
              <a:rPr lang="en-US" b="1" dirty="0" smtClean="0"/>
              <a:t> DFD</a:t>
            </a:r>
            <a:endParaRPr lang="ru-RU" dirty="0"/>
          </a:p>
        </p:txBody>
      </p:sp>
      <p:pic>
        <p:nvPicPr>
          <p:cNvPr id="2050" name="Picture 2" descr="C:\Users\priko\Downloads\DF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9962" y="2230388"/>
            <a:ext cx="3860583" cy="4073125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0867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83568" y="2060848"/>
            <a:ext cx="7977209" cy="1180653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Варианты использования </a:t>
            </a:r>
            <a:r>
              <a:rPr lang="en-US" dirty="0" smtClean="0"/>
              <a:t>- </a:t>
            </a:r>
            <a:r>
              <a:rPr lang="ru-RU" dirty="0" smtClean="0"/>
              <a:t>кто </a:t>
            </a:r>
            <a:r>
              <a:rPr lang="ru-RU" dirty="0"/>
              <a:t>и что может делать в системе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Деятельности </a:t>
            </a:r>
            <a:r>
              <a:rPr lang="en-US" dirty="0" smtClean="0"/>
              <a:t>- </a:t>
            </a:r>
            <a:r>
              <a:rPr lang="ru-RU" dirty="0" smtClean="0"/>
              <a:t>пошаговый </a:t>
            </a:r>
            <a:r>
              <a:rPr lang="ru-RU" dirty="0"/>
              <a:t>сценарий оформления полиса с разделением на дорожки (клиент, менеджер, оценщик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Последовательности </a:t>
            </a:r>
            <a:r>
              <a:rPr lang="en-US" dirty="0" smtClean="0"/>
              <a:t>- </a:t>
            </a:r>
            <a:r>
              <a:rPr lang="ru-RU" dirty="0" smtClean="0"/>
              <a:t>детальный </a:t>
            </a:r>
            <a:r>
              <a:rPr lang="ru-RU" dirty="0"/>
              <a:t>обмен сообщениями при онлайн-оплате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Классов </a:t>
            </a:r>
            <a:r>
              <a:rPr lang="en-US" dirty="0" smtClean="0"/>
              <a:t>- </a:t>
            </a:r>
            <a:r>
              <a:rPr lang="ru-RU" dirty="0" smtClean="0"/>
              <a:t>структура </a:t>
            </a:r>
            <a:r>
              <a:rPr lang="ru-RU" dirty="0"/>
              <a:t>данных в коде: атрибуты, методы, связи между объектами.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UML-</a:t>
            </a:r>
            <a:r>
              <a:rPr lang="ru-RU" b="1" dirty="0" smtClean="0"/>
              <a:t>диаграммы</a:t>
            </a:r>
            <a:endParaRPr lang="ru-RU" dirty="0"/>
          </a:p>
        </p:txBody>
      </p:sp>
      <p:pic>
        <p:nvPicPr>
          <p:cNvPr id="3074" name="Picture 2" descr="C:\Users\priko\Downloads\Варианто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3162675"/>
            <a:ext cx="3312367" cy="2273282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C:\Users\priko\Downloads\Деятельности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3212976"/>
            <a:ext cx="2374379" cy="263783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C:\Users\priko\Downloads\Последовательности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944" y="3162675"/>
            <a:ext cx="2043205" cy="268813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 descr="C:\Users\priko\Downloads\Классов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5301207"/>
            <a:ext cx="3056374" cy="1493487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737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107504" y="1965216"/>
            <a:ext cx="3368697" cy="158417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b="1" dirty="0"/>
              <a:t>Концептуальная модель (нотация </a:t>
            </a:r>
            <a:r>
              <a:rPr lang="ru-RU" b="1" dirty="0" err="1"/>
              <a:t>Чена</a:t>
            </a:r>
            <a:r>
              <a:rPr lang="ru-RU" b="1" dirty="0"/>
              <a:t>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8 сущностей:</a:t>
            </a:r>
          </a:p>
          <a:p>
            <a:r>
              <a:rPr lang="ru-RU" dirty="0"/>
              <a:t>Клиент, Автомобиль, Сотрудник,</a:t>
            </a:r>
          </a:p>
          <a:p>
            <a:r>
              <a:rPr lang="ru-RU" dirty="0"/>
              <a:t>Полис, Платёж,</a:t>
            </a:r>
          </a:p>
          <a:p>
            <a:r>
              <a:rPr lang="ru-RU" dirty="0"/>
              <a:t>Страховой случай (ДТП), Оценка ущерба, Выплата.</a:t>
            </a:r>
            <a:br>
              <a:rPr lang="ru-RU" dirty="0"/>
            </a:br>
            <a:r>
              <a:rPr lang="ru-RU" dirty="0"/>
              <a:t>Показал все связи, типы «один-ко-многим</a:t>
            </a:r>
            <a:r>
              <a:rPr lang="ru-RU" dirty="0" smtClean="0"/>
              <a:t>».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База данных. Концептуальная и логическая модели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932040" y="1988840"/>
            <a:ext cx="415517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Логическая модель: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Превратил сущности в таблицы.</a:t>
            </a:r>
            <a:br>
              <a:rPr lang="ru-RU" dirty="0"/>
            </a:br>
            <a:r>
              <a:rPr lang="ru-RU" dirty="0"/>
              <a:t>Определил первичные и внешние ключи, типы данных.</a:t>
            </a:r>
            <a:br>
              <a:rPr lang="ru-RU" dirty="0"/>
            </a:br>
            <a:r>
              <a:rPr lang="ru-RU" dirty="0"/>
              <a:t>Привёл схему к </a:t>
            </a:r>
            <a:r>
              <a:rPr lang="ru-RU" b="1" dirty="0"/>
              <a:t>третьей нормальной форме</a:t>
            </a:r>
            <a:r>
              <a:rPr lang="ru-RU" dirty="0"/>
              <a:t> </a:t>
            </a:r>
            <a:r>
              <a:rPr lang="en-US" dirty="0"/>
              <a:t>- </a:t>
            </a:r>
            <a:r>
              <a:rPr lang="ru-RU" dirty="0"/>
              <a:t>без дублирования и противоречий.</a:t>
            </a:r>
            <a:endParaRPr lang="ru-RU" dirty="0"/>
          </a:p>
        </p:txBody>
      </p:sp>
      <p:pic>
        <p:nvPicPr>
          <p:cNvPr id="4098" name="Picture 2" descr="C:\Users\priko\Downloads\Логическа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581128"/>
            <a:ext cx="4645249" cy="208958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C:\Users\priko\Downloads\ER-Диаграмма(нотация Чена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07" y="3284985"/>
            <a:ext cx="4041453" cy="348294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798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18287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Физическая реализация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СУБД: </a:t>
            </a:r>
            <a:r>
              <a:rPr lang="ru-RU" dirty="0" err="1"/>
              <a:t>MySQL</a:t>
            </a:r>
            <a:r>
              <a:rPr lang="ru-RU" dirty="0"/>
              <a:t> 8.0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Среда: </a:t>
            </a:r>
            <a:r>
              <a:rPr lang="ru-RU" dirty="0" err="1"/>
              <a:t>Open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 + </a:t>
            </a:r>
            <a:r>
              <a:rPr lang="ru-RU" dirty="0" err="1"/>
              <a:t>phpMyAdmin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Кодировка: utf8mb4 (корректно с русским языком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Таблицы </a:t>
            </a:r>
            <a:r>
              <a:rPr lang="ru-RU" dirty="0" smtClean="0"/>
              <a:t>заполнены </a:t>
            </a:r>
            <a:r>
              <a:rPr lang="ru-RU" dirty="0"/>
              <a:t>тестовыми данными: клиенты Тюменской области, реальные марки авто, даты полисов и ДТП.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База данных. Физическая </a:t>
            </a:r>
            <a:r>
              <a:rPr lang="ru-RU" dirty="0" smtClean="0"/>
              <a:t>модель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803940" y="4221088"/>
            <a:ext cx="7837040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9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00745" cy="38778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Интерфейс и итог работы</a:t>
            </a:r>
            <a:br>
              <a:rPr lang="ru-RU" b="1" dirty="0"/>
            </a:b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323528" y="1104162"/>
            <a:ext cx="2448272" cy="2944722"/>
          </a:xfrm>
          <a:prstGeom prst="rect">
            <a:avLst/>
          </a:prstGeom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467544" y="4293096"/>
            <a:ext cx="3456384" cy="226654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4"/>
          <a:stretch>
            <a:fillRect/>
          </a:stretch>
        </p:blipFill>
        <p:spPr>
          <a:xfrm>
            <a:off x="3347864" y="1916832"/>
            <a:ext cx="2873578" cy="2043664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5"/>
          <a:stretch>
            <a:fillRect/>
          </a:stretch>
        </p:blipFill>
        <p:spPr>
          <a:xfrm>
            <a:off x="6457622" y="1015774"/>
            <a:ext cx="2448272" cy="2944722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6"/>
          <a:stretch>
            <a:fillRect/>
          </a:stretch>
        </p:blipFill>
        <p:spPr>
          <a:xfrm>
            <a:off x="4873446" y="4077072"/>
            <a:ext cx="4032448" cy="262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48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Твердый переплет">
  <a:themeElements>
    <a:clrScheme name="Твердый переплет">
      <a:dk1>
        <a:sysClr val="windowText" lastClr="000000"/>
      </a:dk1>
      <a:lt1>
        <a:sysClr val="window" lastClr="FFFFFF"/>
      </a:lt1>
      <a:dk2>
        <a:srgbClr val="895D1D"/>
      </a:dk2>
      <a:lt2>
        <a:srgbClr val="ECE9C6"/>
      </a:lt2>
      <a:accent1>
        <a:srgbClr val="873624"/>
      </a:accent1>
      <a:accent2>
        <a:srgbClr val="D6862D"/>
      </a:accent2>
      <a:accent3>
        <a:srgbClr val="D0BE40"/>
      </a:accent3>
      <a:accent4>
        <a:srgbClr val="877F6C"/>
      </a:accent4>
      <a:accent5>
        <a:srgbClr val="972109"/>
      </a:accent5>
      <a:accent6>
        <a:srgbClr val="AEB795"/>
      </a:accent6>
      <a:hlink>
        <a:srgbClr val="CC9900"/>
      </a:hlink>
      <a:folHlink>
        <a:srgbClr val="B2B2B2"/>
      </a:folHlink>
    </a:clrScheme>
    <a:fontScheme name="Твердый переплет">
      <a:maj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궁서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Твердый переплет">
      <a:fillStyleLst>
        <a:solidFill>
          <a:schemeClr val="phClr"/>
        </a:solidFill>
        <a:solidFill>
          <a:schemeClr val="phClr">
            <a:tint val="68000"/>
            <a:shade val="94000"/>
            <a:satMod val="300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80000"/>
                <a:lumMod val="98000"/>
              </a:schemeClr>
            </a:gs>
            <a:gs pos="100000">
              <a:schemeClr val="phClr">
                <a:satMod val="130000"/>
              </a:schemeClr>
            </a:gs>
          </a:gsLst>
          <a:lin ang="5160000" scaled="0"/>
        </a:gradFill>
      </a:fillStyleLst>
      <a:lnStyleLst>
        <a:ln w="12700" cap="flat" cmpd="sng" algn="ctr">
          <a:solidFill>
            <a:schemeClr val="phClr">
              <a:shade val="90000"/>
              <a:lumMod val="90000"/>
            </a:schemeClr>
          </a:solidFill>
          <a:prstDash val="solid"/>
        </a:ln>
        <a:ln w="19050" cap="flat" cmpd="sng" algn="ctr">
          <a:solidFill>
            <a:schemeClr val="phClr">
              <a:shade val="75000"/>
              <a:lumMod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12700" dir="5400000" rotWithShape="0">
              <a:srgbClr val="000000">
                <a:alpha val="1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6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400000"/>
            </a:lightRig>
          </a:scene3d>
          <a:sp3d>
            <a:bevelT w="25400" h="25400"/>
          </a:sp3d>
        </a:effectStyle>
      </a:effectStyleLst>
      <a:bgFillStyleLst>
        <a:solidFill>
          <a:schemeClr val="phClr">
            <a:tint val="96000"/>
            <a:lumMod val="11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3000"/>
                <a:shade val="20000"/>
              </a:schemeClr>
              <a:schemeClr val="phClr">
                <a:tint val="90000"/>
                <a:shade val="85000"/>
                <a:satMod val="115000"/>
              </a:schemeClr>
            </a:duotone>
          </a:blip>
          <a:tile tx="0" ty="0" sx="60000" sy="6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hade val="50000"/>
                <a:satMod val="340000"/>
                <a:lumMod val="40000"/>
              </a:schemeClr>
              <a:schemeClr val="phClr">
                <a:tint val="92000"/>
                <a:shade val="94000"/>
                <a:hueMod val="110000"/>
                <a:satMod val="236000"/>
                <a:lumMod val="12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Hardcover</Template>
  <TotalTime>16</TotalTime>
  <Words>357</Words>
  <Application>Microsoft Office PowerPoint</Application>
  <PresentationFormat>Экран (4:3)</PresentationFormat>
  <Paragraphs>68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Твердый переплет</vt:lpstr>
      <vt:lpstr>Проектирование информационной системы «Страховая компания»</vt:lpstr>
      <vt:lpstr>Актуальность работы</vt:lpstr>
      <vt:lpstr>Что автоматизируем</vt:lpstr>
      <vt:lpstr>Кто пользуется системой</vt:lpstr>
      <vt:lpstr>Сравнение с аналогами</vt:lpstr>
      <vt:lpstr>Модель IDEF0</vt:lpstr>
      <vt:lpstr>Модель DFD</vt:lpstr>
      <vt:lpstr>UML-диаграммы</vt:lpstr>
      <vt:lpstr>База данных. Концептуальная и логическая модели</vt:lpstr>
      <vt:lpstr>База данных. Физическая модель</vt:lpstr>
      <vt:lpstr>Интерфейс и итог работы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«Страховая компания»</dc:title>
  <dc:creator>Maks Bogatyr</dc:creator>
  <cp:lastModifiedBy>Maks Bogatyr</cp:lastModifiedBy>
  <cp:revision>3</cp:revision>
  <dcterms:created xsi:type="dcterms:W3CDTF">2026-05-13T21:16:55Z</dcterms:created>
  <dcterms:modified xsi:type="dcterms:W3CDTF">2026-05-13T21:43:54Z</dcterms:modified>
</cp:coreProperties>
</file>