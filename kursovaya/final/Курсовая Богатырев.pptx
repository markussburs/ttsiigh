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3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200" dirty="0" smtClean="0"/>
              <a:t>Проектирование информационной системы «Страховая компания»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7448872" cy="1752600"/>
          </a:xfrm>
        </p:spPr>
        <p:txBody>
          <a:bodyPr>
            <a:normAutofit/>
          </a:bodyPr>
          <a:lstStyle/>
          <a:p>
            <a:pPr algn="r"/>
            <a:r>
              <a:rPr lang="ru-RU" sz="1600" dirty="0" smtClean="0"/>
              <a:t>Выполнил</a:t>
            </a:r>
            <a:r>
              <a:rPr lang="en-US" sz="1600" dirty="0" smtClean="0"/>
              <a:t>: </a:t>
            </a:r>
            <a:r>
              <a:rPr lang="ru-RU" sz="1600" dirty="0" smtClean="0"/>
              <a:t>Богатырев М.А.</a:t>
            </a:r>
          </a:p>
          <a:p>
            <a:pPr algn="r"/>
            <a:r>
              <a:rPr lang="ru-RU" sz="1600" dirty="0" smtClean="0"/>
              <a:t>Студент 1 курса очной формы обучения,</a:t>
            </a:r>
          </a:p>
          <a:p>
            <a:pPr algn="r"/>
            <a:r>
              <a:rPr lang="ru-RU" sz="1600" dirty="0" smtClean="0"/>
              <a:t>Группы ИСиП 25-11-1</a:t>
            </a:r>
          </a:p>
          <a:p>
            <a:pPr algn="r"/>
            <a:r>
              <a:rPr lang="ru-RU" sz="1600" dirty="0" smtClean="0"/>
              <a:t>Проверила: Гончарова Т.В., должность</a:t>
            </a:r>
            <a:r>
              <a:rPr lang="en-US" sz="1600" dirty="0" smtClean="0"/>
              <a:t>:</a:t>
            </a:r>
            <a:endParaRPr lang="ru-RU" sz="1600" dirty="0" smtClean="0"/>
          </a:p>
          <a:p>
            <a:pPr algn="r"/>
            <a:r>
              <a:rPr lang="ru-RU" sz="1600" dirty="0" smtClean="0"/>
              <a:t>Преподаватель проф. дисциплин</a:t>
            </a:r>
            <a:endParaRPr lang="ru-RU" sz="16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369651"/>
            <a:ext cx="9144000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Государственное автономное профессиональное учреждение </a:t>
            </a:r>
            <a:b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Тюменской области </a:t>
            </a:r>
            <a:b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«ТЮМЕНСКИЙ ТЕХНИКУМ СТРОИТЕЛЬНОЙ ИНДУСТРИИ И ГОРОДСКОГО ХОЗЯЙСТВА»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286000" y="6168605"/>
            <a:ext cx="4572000" cy="39068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г. Тюмень, 2026 г.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Почему эта тема важна сегодня</a:t>
            </a:r>
            <a:r>
              <a:rPr lang="ru-RU" dirty="0" smtClean="0"/>
              <a:t>?</a:t>
            </a:r>
            <a:endParaRPr lang="ru-RU" dirty="0"/>
          </a:p>
          <a:p>
            <a:r>
              <a:rPr lang="ru-RU" dirty="0"/>
              <a:t>Количество машин на дорогах России ежегодно растёт на 3–5</a:t>
            </a:r>
            <a:r>
              <a:rPr lang="ru-RU" dirty="0" smtClean="0"/>
              <a:t>%.</a:t>
            </a:r>
            <a:endParaRPr lang="ru-RU" dirty="0"/>
          </a:p>
          <a:p>
            <a:r>
              <a:rPr lang="ru-RU" dirty="0"/>
              <a:t>Но многие страховые компании до сих пор работают в </a:t>
            </a:r>
            <a:r>
              <a:rPr lang="ru-RU" dirty="0" err="1"/>
              <a:t>Excel</a:t>
            </a:r>
            <a:r>
              <a:rPr lang="ru-RU" dirty="0"/>
              <a:t> и на бумаге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Последствия: ошибки в расчётах, потерянные заявления, задержки выплат, недовольные клиенты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Законодательство (№ 40-ФЗ) требует строгих сроков выплат.</a:t>
            </a:r>
          </a:p>
          <a:p>
            <a:r>
              <a:rPr lang="ru-RU" dirty="0"/>
              <a:t>Поэтому нужна централизованная информационная система, которая автоматизирует всё: от заявки до выплаты.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</a:t>
            </a:r>
            <a:r>
              <a:rPr lang="ru-RU" dirty="0" smtClean="0"/>
              <a:t>работы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688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60573"/>
          </a:xfrm>
        </p:spPr>
        <p:txBody>
          <a:bodyPr/>
          <a:lstStyle/>
          <a:p>
            <a:r>
              <a:rPr lang="ru-RU" dirty="0"/>
              <a:t>Система закрывает два главных бизнес-процесса.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</a:t>
            </a:r>
            <a:r>
              <a:rPr lang="ru-RU" b="1" dirty="0" smtClean="0"/>
              <a:t>автоматизируем</a:t>
            </a:r>
            <a:endParaRPr lang="ru-RU" dirty="0"/>
          </a:p>
        </p:txBody>
      </p:sp>
      <p:sp>
        <p:nvSpPr>
          <p:cNvPr id="4" name="Объект 1"/>
          <p:cNvSpPr txBox="1">
            <a:spLocks/>
          </p:cNvSpPr>
          <p:nvPr/>
        </p:nvSpPr>
        <p:spPr>
          <a:xfrm>
            <a:off x="718614" y="2703891"/>
            <a:ext cx="3872752" cy="3893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Первый </a:t>
            </a:r>
            <a:r>
              <a:rPr lang="en-US" b="1" dirty="0" smtClean="0"/>
              <a:t>- </a:t>
            </a:r>
            <a:r>
              <a:rPr lang="ru-RU" b="1" dirty="0" smtClean="0"/>
              <a:t>заключение </a:t>
            </a:r>
            <a:r>
              <a:rPr lang="ru-RU" b="1" dirty="0"/>
              <a:t>договора страхования:</a:t>
            </a:r>
            <a:endParaRPr lang="ru-RU" dirty="0"/>
          </a:p>
          <a:p>
            <a:r>
              <a:rPr lang="ru-RU" dirty="0"/>
              <a:t>Клиент оставляет заявку.</a:t>
            </a:r>
          </a:p>
          <a:p>
            <a:r>
              <a:rPr lang="ru-RU" dirty="0"/>
              <a:t>Менеджер рассчитывает стоимость.</a:t>
            </a:r>
          </a:p>
          <a:p>
            <a:r>
              <a:rPr lang="ru-RU" dirty="0"/>
              <a:t>Клиент оплачивает онлайн.</a:t>
            </a:r>
          </a:p>
          <a:p>
            <a:r>
              <a:rPr lang="ru-RU" dirty="0"/>
              <a:t>Система выдаёт электронный полис.</a:t>
            </a:r>
          </a:p>
        </p:txBody>
      </p:sp>
      <p:sp>
        <p:nvSpPr>
          <p:cNvPr id="5" name="Объект 1"/>
          <p:cNvSpPr txBox="1">
            <a:spLocks/>
          </p:cNvSpPr>
          <p:nvPr/>
        </p:nvSpPr>
        <p:spPr>
          <a:xfrm>
            <a:off x="4584194" y="2703891"/>
            <a:ext cx="3872752" cy="389346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Второй </a:t>
            </a:r>
            <a:r>
              <a:rPr lang="en-US" b="1" dirty="0" smtClean="0"/>
              <a:t>- </a:t>
            </a:r>
            <a:r>
              <a:rPr lang="ru-RU" b="1" dirty="0" smtClean="0"/>
              <a:t>урегулирование </a:t>
            </a:r>
            <a:r>
              <a:rPr lang="ru-RU" b="1" dirty="0"/>
              <a:t>убытков (ДТП):</a:t>
            </a:r>
            <a:endParaRPr lang="ru-RU" dirty="0"/>
          </a:p>
          <a:p>
            <a:r>
              <a:rPr lang="ru-RU" dirty="0"/>
              <a:t>Клиент сообщает о страховом случае.</a:t>
            </a:r>
          </a:p>
          <a:p>
            <a:r>
              <a:rPr lang="ru-RU" dirty="0"/>
              <a:t>Менеджер регистрирует ДТП.</a:t>
            </a:r>
          </a:p>
          <a:p>
            <a:r>
              <a:rPr lang="ru-RU" dirty="0"/>
              <a:t>Оценщик рассчитывает ущерб.</a:t>
            </a:r>
          </a:p>
          <a:p>
            <a:r>
              <a:rPr lang="ru-RU" dirty="0"/>
              <a:t>Система формирует выплату.</a:t>
            </a:r>
          </a:p>
        </p:txBody>
      </p:sp>
    </p:spTree>
    <p:extLst>
      <p:ext uri="{BB962C8B-B14F-4D97-AF65-F5344CB8AC3E}">
        <p14:creationId xmlns:p14="http://schemas.microsoft.com/office/powerpoint/2010/main" val="273813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 системе 4 типа пользователей с разными ролями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ru-RU" b="1" dirty="0"/>
              <a:t>Клиент:</a:t>
            </a:r>
            <a:endParaRPr lang="ru-RU" dirty="0"/>
          </a:p>
          <a:p>
            <a:r>
              <a:rPr lang="ru-RU" dirty="0"/>
              <a:t>Оформляет полисы, платит, заявляет о ДТП, следит за выплатами.</a:t>
            </a:r>
          </a:p>
          <a:p>
            <a:pPr marL="0" indent="0">
              <a:buNone/>
            </a:pPr>
            <a:r>
              <a:rPr lang="ru-RU" b="1" dirty="0"/>
              <a:t>Менеджер:</a:t>
            </a:r>
            <a:endParaRPr lang="ru-RU" dirty="0"/>
          </a:p>
          <a:p>
            <a:r>
              <a:rPr lang="ru-RU" dirty="0"/>
              <a:t>Обрабатывает заявки, рассчитывает страховку, регистрирует страховые случаи.</a:t>
            </a:r>
          </a:p>
          <a:p>
            <a:pPr marL="0" indent="0">
              <a:buNone/>
            </a:pPr>
            <a:r>
              <a:rPr lang="ru-RU" b="1" dirty="0"/>
              <a:t>Оценщик:</a:t>
            </a:r>
            <a:endParaRPr lang="ru-RU" dirty="0"/>
          </a:p>
          <a:p>
            <a:r>
              <a:rPr lang="ru-RU" dirty="0"/>
              <a:t>Вносит результаты осмотра автомобиля.</a:t>
            </a:r>
          </a:p>
          <a:p>
            <a:pPr marL="0" indent="0">
              <a:buNone/>
            </a:pPr>
            <a:r>
              <a:rPr lang="ru-RU" b="1" dirty="0"/>
              <a:t>Администратор:</a:t>
            </a:r>
            <a:endParaRPr lang="ru-RU" dirty="0"/>
          </a:p>
          <a:p>
            <a:r>
              <a:rPr lang="ru-RU" dirty="0"/>
              <a:t>Ведёт справочники, управляет пользователями, делает </a:t>
            </a:r>
            <a:r>
              <a:rPr lang="ru-RU" dirty="0" err="1"/>
              <a:t>бэкапы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Кто пользуется </a:t>
            </a:r>
            <a:r>
              <a:rPr lang="ru-RU" b="1" dirty="0" smtClean="0"/>
              <a:t>системой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17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Я проанализировал, что есть на рынке.</a:t>
            </a:r>
          </a:p>
          <a:p>
            <a:r>
              <a:rPr lang="ru-RU" b="1" dirty="0"/>
              <a:t>«1С:Страховая компания»</a:t>
            </a:r>
            <a:r>
              <a:rPr lang="ru-RU" dirty="0"/>
              <a:t> </a:t>
            </a:r>
            <a:r>
              <a:rPr lang="en-US" dirty="0" smtClean="0"/>
              <a:t>- </a:t>
            </a:r>
            <a:r>
              <a:rPr lang="ru-RU" dirty="0" smtClean="0"/>
              <a:t>дорого</a:t>
            </a:r>
            <a:r>
              <a:rPr lang="ru-RU" dirty="0"/>
              <a:t>, избыточно, сложно дорабатывать, слабый веб-интерфейс.</a:t>
            </a:r>
          </a:p>
          <a:p>
            <a:r>
              <a:rPr lang="ru-RU" b="1" dirty="0"/>
              <a:t>«ИНСИСТРАХ»</a:t>
            </a:r>
            <a:r>
              <a:rPr lang="ru-RU" dirty="0"/>
              <a:t> </a:t>
            </a:r>
            <a:r>
              <a:rPr lang="en-US" dirty="0" smtClean="0"/>
              <a:t>- </a:t>
            </a:r>
            <a:r>
              <a:rPr lang="ru-RU" dirty="0" smtClean="0"/>
              <a:t>ежегодная </a:t>
            </a:r>
            <a:r>
              <a:rPr lang="ru-RU" dirty="0"/>
              <a:t>плата, неудобный интерфейс.</a:t>
            </a:r>
          </a:p>
          <a:p>
            <a:r>
              <a:rPr lang="ru-RU" b="1" dirty="0"/>
              <a:t>Модуль в SAP</a:t>
            </a:r>
            <a:r>
              <a:rPr lang="ru-RU" dirty="0"/>
              <a:t> </a:t>
            </a:r>
            <a:r>
              <a:rPr lang="en-US" dirty="0" smtClean="0"/>
              <a:t>- </a:t>
            </a:r>
            <a:r>
              <a:rPr lang="ru-RU" dirty="0" smtClean="0"/>
              <a:t>только </a:t>
            </a:r>
            <a:r>
              <a:rPr lang="ru-RU" dirty="0"/>
              <a:t>для гигантов, астрономическая цена.</a:t>
            </a:r>
          </a:p>
          <a:p>
            <a:r>
              <a:rPr lang="ru-RU" b="1" dirty="0"/>
              <a:t>Моя система:</a:t>
            </a:r>
            <a:endParaRPr lang="ru-RU" dirty="0"/>
          </a:p>
          <a:p>
            <a:r>
              <a:rPr lang="ru-RU" dirty="0"/>
              <a:t>Низкая </a:t>
            </a:r>
            <a:r>
              <a:rPr lang="ru-RU" dirty="0" smtClean="0"/>
              <a:t>стоимость.</a:t>
            </a:r>
            <a:endParaRPr lang="ru-RU" dirty="0"/>
          </a:p>
          <a:p>
            <a:r>
              <a:rPr lang="ru-RU" dirty="0"/>
              <a:t>Высокая гибкость.</a:t>
            </a:r>
          </a:p>
          <a:p>
            <a:r>
              <a:rPr lang="ru-RU" dirty="0"/>
              <a:t>Заточена именно под автострахование.</a:t>
            </a:r>
          </a:p>
          <a:p>
            <a:r>
              <a:rPr lang="ru-RU" dirty="0"/>
              <a:t>Полноценный веб-интерфейс для клиентов и сотрудников.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Сравнение с </a:t>
            </a:r>
            <a:r>
              <a:rPr lang="ru-RU" b="1" dirty="0" smtClean="0"/>
              <a:t>аналогами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5739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699247" y="2248347"/>
            <a:ext cx="7833193" cy="1684709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IDEF0 (контекстная диаграмма):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Показал систему как «чёрный ящик»:</a:t>
            </a:r>
          </a:p>
          <a:p>
            <a:r>
              <a:rPr lang="ru-RU" dirty="0"/>
              <a:t>Входы: заявка, заявление о ДТП, оплата.</a:t>
            </a:r>
          </a:p>
          <a:p>
            <a:r>
              <a:rPr lang="ru-RU" dirty="0"/>
              <a:t>Выходы: полис, выплата, уведомления.</a:t>
            </a:r>
          </a:p>
          <a:p>
            <a:r>
              <a:rPr lang="ru-RU" dirty="0"/>
              <a:t>Управление: законы (№ 40-ФЗ), регламенты компании.</a:t>
            </a:r>
          </a:p>
          <a:p>
            <a:r>
              <a:rPr lang="ru-RU" dirty="0"/>
              <a:t>Механизмы: сотрудники, сама ИС.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Модел</a:t>
            </a:r>
            <a:r>
              <a:rPr lang="ru-RU" b="1" dirty="0"/>
              <a:t>ь</a:t>
            </a:r>
            <a:r>
              <a:rPr lang="ru-RU" b="1" dirty="0" smtClean="0"/>
              <a:t> </a:t>
            </a:r>
            <a:r>
              <a:rPr lang="en-US" b="1" dirty="0" smtClean="0"/>
              <a:t>IDEF0</a:t>
            </a:r>
            <a:endParaRPr lang="ru-RU" dirty="0"/>
          </a:p>
        </p:txBody>
      </p:sp>
      <p:pic>
        <p:nvPicPr>
          <p:cNvPr id="1028" name="Picture 4" descr="C:\Users\priko\Downloads\IDEF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561" y="3789040"/>
            <a:ext cx="5851541" cy="306896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982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699247" y="2248347"/>
            <a:ext cx="3872753" cy="3877815"/>
          </a:xfrm>
        </p:spPr>
        <p:txBody>
          <a:bodyPr/>
          <a:lstStyle/>
          <a:p>
            <a:r>
              <a:rPr lang="ru-RU" dirty="0"/>
              <a:t>Показал, как движутся данные между процессами и хранилищами: от заявки клиента до выплаты.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Модель</a:t>
            </a:r>
            <a:r>
              <a:rPr lang="en-US" b="1" dirty="0" smtClean="0"/>
              <a:t> DFD</a:t>
            </a:r>
            <a:endParaRPr lang="ru-RU" dirty="0"/>
          </a:p>
        </p:txBody>
      </p:sp>
      <p:pic>
        <p:nvPicPr>
          <p:cNvPr id="2050" name="Picture 2" descr="C:\Users\priko\Downloads\DF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962" y="2230388"/>
            <a:ext cx="3860583" cy="4073125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86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683568" y="2060848"/>
            <a:ext cx="7977209" cy="1180653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Варианты использования </a:t>
            </a:r>
            <a:r>
              <a:rPr lang="en-US" dirty="0" smtClean="0"/>
              <a:t>- </a:t>
            </a:r>
            <a:r>
              <a:rPr lang="ru-RU" dirty="0" smtClean="0"/>
              <a:t>кто </a:t>
            </a:r>
            <a:r>
              <a:rPr lang="ru-RU" dirty="0"/>
              <a:t>и что может делать в системе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Деятельности </a:t>
            </a:r>
            <a:r>
              <a:rPr lang="en-US" dirty="0" smtClean="0"/>
              <a:t>- </a:t>
            </a:r>
            <a:r>
              <a:rPr lang="ru-RU" dirty="0" smtClean="0"/>
              <a:t>пошаговый </a:t>
            </a:r>
            <a:r>
              <a:rPr lang="ru-RU" dirty="0"/>
              <a:t>сценарий оформления полиса с разделением на дорожки (клиент, менеджер, оценщик</a:t>
            </a:r>
            <a:r>
              <a:rPr lang="ru-RU" dirty="0" smtClean="0"/>
              <a:t>).</a:t>
            </a:r>
            <a:endParaRPr lang="ru-RU" dirty="0"/>
          </a:p>
          <a:p>
            <a:r>
              <a:rPr lang="ru-RU" dirty="0"/>
              <a:t>Последовательности </a:t>
            </a:r>
            <a:r>
              <a:rPr lang="en-US" dirty="0" smtClean="0"/>
              <a:t>- </a:t>
            </a:r>
            <a:r>
              <a:rPr lang="ru-RU" dirty="0" smtClean="0"/>
              <a:t>детальный </a:t>
            </a:r>
            <a:r>
              <a:rPr lang="ru-RU" dirty="0"/>
              <a:t>обмен сообщениями при онлайн-оплате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Классов </a:t>
            </a:r>
            <a:r>
              <a:rPr lang="en-US" dirty="0" smtClean="0"/>
              <a:t>- </a:t>
            </a:r>
            <a:r>
              <a:rPr lang="ru-RU" dirty="0" smtClean="0"/>
              <a:t>структура </a:t>
            </a:r>
            <a:r>
              <a:rPr lang="ru-RU" dirty="0"/>
              <a:t>данных в коде: атрибуты, методы, связи между объектами.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UML-</a:t>
            </a:r>
            <a:r>
              <a:rPr lang="ru-RU" b="1" dirty="0" smtClean="0"/>
              <a:t>диаграммы</a:t>
            </a:r>
            <a:endParaRPr lang="ru-RU" dirty="0"/>
          </a:p>
        </p:txBody>
      </p:sp>
      <p:pic>
        <p:nvPicPr>
          <p:cNvPr id="3074" name="Picture 2" descr="C:\Users\priko\Downloads\Вариантов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3162675"/>
            <a:ext cx="3312367" cy="2273282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priko\Downloads\Деятельности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3212976"/>
            <a:ext cx="2374379" cy="263783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priko\Downloads\Последовательности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944" y="3162675"/>
            <a:ext cx="2043205" cy="2688134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C:\Users\priko\Downloads\Классов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5301207"/>
            <a:ext cx="3056374" cy="1493487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973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7504" y="1965216"/>
            <a:ext cx="3368697" cy="158417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1" dirty="0"/>
              <a:t>Концептуальная модель (нотация </a:t>
            </a:r>
            <a:r>
              <a:rPr lang="ru-RU" b="1" dirty="0" err="1"/>
              <a:t>Чена</a:t>
            </a:r>
            <a:r>
              <a:rPr lang="ru-RU" b="1" dirty="0"/>
              <a:t>):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8 сущностей:</a:t>
            </a:r>
          </a:p>
          <a:p>
            <a:r>
              <a:rPr lang="ru-RU" dirty="0"/>
              <a:t>Клиент, Автомобиль, Сотрудник,</a:t>
            </a:r>
          </a:p>
          <a:p>
            <a:r>
              <a:rPr lang="ru-RU" dirty="0"/>
              <a:t>Полис, Платёж,</a:t>
            </a:r>
          </a:p>
          <a:p>
            <a:r>
              <a:rPr lang="ru-RU" dirty="0"/>
              <a:t>Страховой случай (ДТП), Оценка ущерба, Выплата.</a:t>
            </a:r>
            <a:br>
              <a:rPr lang="ru-RU" dirty="0"/>
            </a:br>
            <a:r>
              <a:rPr lang="ru-RU" dirty="0"/>
              <a:t>Показал все связи, типы «один-ко-многим</a:t>
            </a:r>
            <a:r>
              <a:rPr lang="ru-RU" dirty="0" smtClean="0"/>
              <a:t>».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База данных. Концептуальная и логическая модели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932040" y="1988840"/>
            <a:ext cx="41551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Логическая модель: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Превратил сущности в таблицы.</a:t>
            </a:r>
            <a:br>
              <a:rPr lang="ru-RU" dirty="0"/>
            </a:br>
            <a:r>
              <a:rPr lang="ru-RU" dirty="0"/>
              <a:t>Определил первичные и внешние ключи, типы данных.</a:t>
            </a:r>
            <a:br>
              <a:rPr lang="ru-RU" dirty="0"/>
            </a:br>
            <a:r>
              <a:rPr lang="ru-RU" dirty="0"/>
              <a:t>Привёл схему к </a:t>
            </a:r>
            <a:r>
              <a:rPr lang="ru-RU" b="1" dirty="0"/>
              <a:t>третьей нормальной форме</a:t>
            </a:r>
            <a:r>
              <a:rPr lang="ru-RU" dirty="0"/>
              <a:t> </a:t>
            </a:r>
            <a:r>
              <a:rPr lang="en-US" dirty="0"/>
              <a:t>- </a:t>
            </a:r>
            <a:r>
              <a:rPr lang="ru-RU" dirty="0"/>
              <a:t>без дублирования и противоречий.</a:t>
            </a:r>
          </a:p>
        </p:txBody>
      </p:sp>
      <p:pic>
        <p:nvPicPr>
          <p:cNvPr id="4098" name="Picture 2" descr="C:\Users\priko\Downloads\Логическая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581128"/>
            <a:ext cx="4645249" cy="208958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priko\Downloads\ER-Диаграмма(нотация Чена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07" y="3284985"/>
            <a:ext cx="4041453" cy="348294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798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18287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Физическая реализация</a:t>
            </a:r>
            <a:r>
              <a:rPr lang="ru-RU" dirty="0" smtClean="0"/>
              <a:t>:</a:t>
            </a:r>
            <a:endParaRPr lang="ru-RU" dirty="0"/>
          </a:p>
          <a:p>
            <a:r>
              <a:rPr lang="ru-RU" dirty="0"/>
              <a:t>СУБД: </a:t>
            </a:r>
            <a:r>
              <a:rPr lang="ru-RU" dirty="0" err="1"/>
              <a:t>MySQL</a:t>
            </a:r>
            <a:r>
              <a:rPr lang="ru-RU" dirty="0"/>
              <a:t> 8.0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Среда: </a:t>
            </a:r>
            <a:r>
              <a:rPr lang="ru-RU" dirty="0" err="1"/>
              <a:t>Open</a:t>
            </a:r>
            <a:r>
              <a:rPr lang="ru-RU" dirty="0"/>
              <a:t> </a:t>
            </a:r>
            <a:r>
              <a:rPr lang="ru-RU" dirty="0" err="1"/>
              <a:t>Server</a:t>
            </a:r>
            <a:r>
              <a:rPr lang="ru-RU" dirty="0"/>
              <a:t> + </a:t>
            </a:r>
            <a:r>
              <a:rPr lang="ru-RU" dirty="0" err="1"/>
              <a:t>phpMyAdmin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Кодировка: utf8mb4 (корректно с русским языком</a:t>
            </a:r>
            <a:r>
              <a:rPr lang="ru-RU" dirty="0" smtClean="0"/>
              <a:t>).</a:t>
            </a:r>
            <a:endParaRPr lang="ru-RU" dirty="0"/>
          </a:p>
          <a:p>
            <a:r>
              <a:rPr lang="ru-RU" dirty="0"/>
              <a:t>Таблицы </a:t>
            </a:r>
            <a:r>
              <a:rPr lang="ru-RU" dirty="0" smtClean="0"/>
              <a:t>заполнены </a:t>
            </a:r>
            <a:r>
              <a:rPr lang="ru-RU" dirty="0"/>
              <a:t>тестовыми данными: клиенты Тюменской области, реальные марки авто, даты полисов и ДТП.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данных. Физическая </a:t>
            </a:r>
            <a:r>
              <a:rPr lang="ru-RU" dirty="0" smtClean="0"/>
              <a:t>модель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803940" y="4221088"/>
            <a:ext cx="7837040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4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699247" y="2248347"/>
            <a:ext cx="3800745" cy="38778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Интерфейс и итог работы</a:t>
            </a:r>
            <a:br>
              <a:rPr lang="ru-RU" b="1" dirty="0"/>
            </a:b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467544" y="4293096"/>
            <a:ext cx="3456384" cy="226654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3347864" y="1916832"/>
            <a:ext cx="2873578" cy="2043664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4"/>
          <a:stretch>
            <a:fillRect/>
          </a:stretch>
        </p:blipFill>
        <p:spPr>
          <a:xfrm>
            <a:off x="6457622" y="1015774"/>
            <a:ext cx="2448272" cy="2944722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5"/>
          <a:stretch>
            <a:fillRect/>
          </a:stretch>
        </p:blipFill>
        <p:spPr>
          <a:xfrm>
            <a:off x="4873446" y="4077072"/>
            <a:ext cx="4032448" cy="2628672"/>
          </a:xfrm>
          <a:prstGeom prst="rect">
            <a:avLst/>
          </a:prstGeom>
        </p:spPr>
      </p:pic>
      <p:pic>
        <p:nvPicPr>
          <p:cNvPr id="1026" name="Picture 2" descr="C:\Users\priko\Downloads\s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30778"/>
            <a:ext cx="2814654" cy="311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48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вердый переплет">
  <a:themeElements>
    <a:clrScheme name="Твердый переплет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Твердый переплет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Твердый переплет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19</TotalTime>
  <Words>566</Words>
  <Application>Microsoft Office PowerPoint</Application>
  <PresentationFormat>Экран (4:3)</PresentationFormat>
  <Paragraphs>73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Book Antiqua</vt:lpstr>
      <vt:lpstr>Calibri</vt:lpstr>
      <vt:lpstr>Times New Roman</vt:lpstr>
      <vt:lpstr>Wingdings</vt:lpstr>
      <vt:lpstr>Твердый переплет</vt:lpstr>
      <vt:lpstr>Проектирование информационной системы «Страховая компания»</vt:lpstr>
      <vt:lpstr>Актуальность работы</vt:lpstr>
      <vt:lpstr>Что автоматизируем</vt:lpstr>
      <vt:lpstr>Кто пользуется системой</vt:lpstr>
      <vt:lpstr>Сравнение с аналогами</vt:lpstr>
      <vt:lpstr>Модель IDEF0</vt:lpstr>
      <vt:lpstr>Модель DFD</vt:lpstr>
      <vt:lpstr>UML-диаграммы</vt:lpstr>
      <vt:lpstr>База данных. Концептуальная и логическая модели</vt:lpstr>
      <vt:lpstr>База данных. Физическая модель</vt:lpstr>
      <vt:lpstr>Интерфейс и итог работы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информационной системы «Страховая компания»</dc:title>
  <dc:creator>Maks Bogatyr</dc:creator>
  <cp:lastModifiedBy>Student</cp:lastModifiedBy>
  <cp:revision>6</cp:revision>
  <dcterms:created xsi:type="dcterms:W3CDTF">2026-05-13T21:16:55Z</dcterms:created>
  <dcterms:modified xsi:type="dcterms:W3CDTF">2026-05-14T08:50:22Z</dcterms:modified>
</cp:coreProperties>
</file>