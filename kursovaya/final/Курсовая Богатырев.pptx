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6858000" type="screen4x3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09" d="100"/>
          <a:sy n="109" d="100"/>
        </p:scale>
        <p:origin x="1674" y="12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overOverlay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4C71EC6-210F-42DE-9C53-41977AD35B3D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  <p:grpSp>
        <p:nvGrpSpPr>
          <p:cNvPr id="8" name="Group 7"/>
          <p:cNvGrpSpPr/>
          <p:nvPr/>
        </p:nvGrpSpPr>
        <p:grpSpPr>
          <a:xfrm>
            <a:off x="1194101" y="2887530"/>
            <a:ext cx="6779110" cy="923330"/>
            <a:chOff x="1172584" y="1381459"/>
            <a:chExt cx="6779110" cy="923330"/>
          </a:xfrm>
          <a:effectLst>
            <a:outerShdw blurRad="38100" dist="12700" dir="16200000" rotWithShape="0">
              <a:prstClr val="black">
                <a:alpha val="30000"/>
              </a:prstClr>
            </a:outerShdw>
          </a:effectLst>
        </p:grpSpPr>
        <p:sp>
          <p:nvSpPr>
            <p:cNvPr id="9" name="TextBox 8"/>
            <p:cNvSpPr txBox="1"/>
            <p:nvPr/>
          </p:nvSpPr>
          <p:spPr>
            <a:xfrm>
              <a:off x="4147073" y="1381459"/>
              <a:ext cx="877163" cy="9233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5400" dirty="0" smtClean="0">
                  <a:ln w="3175">
                    <a:solidFill>
                      <a:schemeClr val="tx2">
                        <a:alpha val="60000"/>
                      </a:schemeClr>
                    </a:solidFill>
                  </a:ln>
                  <a:solidFill>
                    <a:schemeClr val="tx2">
                      <a:lumMod val="90000"/>
                    </a:schemeClr>
                  </a:solidFill>
                  <a:effectLst>
                    <a:outerShdw blurRad="34925" dist="12700" dir="14400000" algn="ctr" rotWithShape="0">
                      <a:srgbClr val="000000">
                        <a:alpha val="21000"/>
                      </a:srgbClr>
                    </a:outerShdw>
                  </a:effectLst>
                  <a:latin typeface="Wingdings" pitchFamily="2" charset="2"/>
                </a:rPr>
                <a:t></a:t>
              </a:r>
              <a:endParaRPr lang="en-US" sz="5400" dirty="0">
                <a:ln w="3175">
                  <a:solidFill>
                    <a:schemeClr val="tx2">
                      <a:alpha val="60000"/>
                    </a:schemeClr>
                  </a:solidFill>
                </a:ln>
                <a:solidFill>
                  <a:schemeClr val="tx2">
                    <a:lumMod val="90000"/>
                  </a:schemeClr>
                </a:solidFill>
                <a:effectLst>
                  <a:outerShdw blurRad="34925" dist="12700" dir="14400000" algn="ctr" rotWithShape="0">
                    <a:srgbClr val="000000">
                      <a:alpha val="21000"/>
                    </a:srgbClr>
                  </a:outerShdw>
                </a:effectLst>
                <a:latin typeface="Wingdings" pitchFamily="2" charset="2"/>
              </a:endParaRPr>
            </a:p>
          </p:txBody>
        </p:sp>
        <p:cxnSp>
          <p:nvCxnSpPr>
            <p:cNvPr id="10" name="Straight Connector 9"/>
            <p:cNvCxnSpPr/>
            <p:nvPr/>
          </p:nvCxnSpPr>
          <p:spPr>
            <a:xfrm rot="10800000">
              <a:off x="1172584" y="1925620"/>
              <a:ext cx="3119718" cy="1588"/>
            </a:xfrm>
            <a:prstGeom prst="line">
              <a:avLst/>
            </a:prstGeom>
            <a:ln>
              <a:solidFill>
                <a:schemeClr val="tx2">
                  <a:lumMod val="90000"/>
                </a:schemeClr>
              </a:solidFill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>
            <a:xfrm rot="10800000">
              <a:off x="4831976" y="1922930"/>
              <a:ext cx="3119718" cy="1588"/>
            </a:xfrm>
            <a:prstGeom prst="line">
              <a:avLst/>
            </a:prstGeom>
            <a:ln>
              <a:solidFill>
                <a:schemeClr val="tx2">
                  <a:lumMod val="90000"/>
                </a:schemeClr>
              </a:solidFill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83341" y="1387737"/>
            <a:ext cx="6777318" cy="1731982"/>
          </a:xfrm>
        </p:spPr>
        <p:txBody>
          <a:bodyPr anchor="b"/>
          <a:lstStyle>
            <a:lvl1pPr>
              <a:defRPr>
                <a:ln w="3175">
                  <a:solidFill>
                    <a:schemeClr val="tx1">
                      <a:alpha val="65000"/>
                    </a:schemeClr>
                  </a:solidFill>
                </a:ln>
                <a:solidFill>
                  <a:schemeClr val="tx1"/>
                </a:solidFill>
                <a:effectLst>
                  <a:outerShdw blurRad="25400" dist="12700" dir="14220000" rotWithShape="0">
                    <a:prstClr val="black">
                      <a:alpha val="50000"/>
                    </a:prstClr>
                  </a:outerShdw>
                </a:effectLst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767862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/>
                </a:solidFill>
                <a:effectLst>
                  <a:outerShdw blurRad="34925" dist="12700" dir="14400000" rotWithShape="0">
                    <a:prstClr val="black">
                      <a:alpha val="21000"/>
                    </a:prstClr>
                  </a:outerShdw>
                </a:effectLst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smtClean="0"/>
              <a:t>Образец подзаголовка</a:t>
            </a:r>
            <a:endParaRPr 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  <p:sp>
        <p:nvSpPr>
          <p:cNvPr id="11" name="Title 10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/>
          </a:p>
        </p:txBody>
      </p:sp>
      <p:grpSp>
        <p:nvGrpSpPr>
          <p:cNvPr id="12" name="Group 11"/>
          <p:cNvGrpSpPr/>
          <p:nvPr/>
        </p:nvGrpSpPr>
        <p:grpSpPr>
          <a:xfrm>
            <a:off x="1172584" y="1392217"/>
            <a:ext cx="6779110" cy="923330"/>
            <a:chOff x="1172584" y="1381459"/>
            <a:chExt cx="6779110" cy="923330"/>
          </a:xfrm>
        </p:grpSpPr>
        <p:sp>
          <p:nvSpPr>
            <p:cNvPr id="13" name="TextBox 12"/>
            <p:cNvSpPr txBox="1"/>
            <p:nvPr/>
          </p:nvSpPr>
          <p:spPr>
            <a:xfrm>
              <a:off x="4147073" y="1381459"/>
              <a:ext cx="877163" cy="9233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5400" dirty="0" smtClean="0">
                  <a:solidFill>
                    <a:schemeClr val="tx2">
                      <a:lumMod val="60000"/>
                      <a:lumOff val="40000"/>
                    </a:schemeClr>
                  </a:solidFill>
                  <a:latin typeface="Wingdings" pitchFamily="2" charset="2"/>
                </a:rPr>
                <a:t></a:t>
              </a:r>
              <a:endParaRPr lang="en-US" sz="5400" dirty="0">
                <a:solidFill>
                  <a:schemeClr val="tx2">
                    <a:lumMod val="60000"/>
                    <a:lumOff val="40000"/>
                  </a:schemeClr>
                </a:solidFill>
                <a:latin typeface="Wingdings" pitchFamily="2" charset="2"/>
              </a:endParaRPr>
            </a:p>
          </p:txBody>
        </p:sp>
        <p:cxnSp>
          <p:nvCxnSpPr>
            <p:cNvPr id="14" name="Straight Connector 13"/>
            <p:cNvCxnSpPr/>
            <p:nvPr/>
          </p:nvCxnSpPr>
          <p:spPr>
            <a:xfrm rot="10800000">
              <a:off x="1172584" y="1925620"/>
              <a:ext cx="3119718" cy="1588"/>
            </a:xfrm>
            <a:prstGeom prst="line">
              <a:avLst/>
            </a:prstGeom>
            <a:ln>
              <a:solidFill>
                <a:schemeClr val="tx2">
                  <a:lumMod val="60000"/>
                  <a:lumOff val="40000"/>
                </a:schemeClr>
              </a:solidFill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/>
            <p:cNvCxnSpPr/>
            <p:nvPr/>
          </p:nvCxnSpPr>
          <p:spPr>
            <a:xfrm rot="10800000">
              <a:off x="4831976" y="1922650"/>
              <a:ext cx="3119718" cy="1588"/>
            </a:xfrm>
            <a:prstGeom prst="line">
              <a:avLst/>
            </a:prstGeom>
            <a:ln>
              <a:solidFill>
                <a:schemeClr val="tx2">
                  <a:lumMod val="60000"/>
                  <a:lumOff val="40000"/>
                </a:schemeClr>
              </a:solidFill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CoverOverlay.png"/>
          <p:cNvPicPr>
            <a:picLocks noChangeAspect="1"/>
          </p:cNvPicPr>
          <p:nvPr/>
        </p:nvPicPr>
        <p:blipFill>
          <a:blip r:embed="rId2" cstate="print">
            <a:lum/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grpSp>
        <p:nvGrpSpPr>
          <p:cNvPr id="7" name="Group 7"/>
          <p:cNvGrpSpPr/>
          <p:nvPr/>
        </p:nvGrpSpPr>
        <p:grpSpPr>
          <a:xfrm>
            <a:off x="1172584" y="2887579"/>
            <a:ext cx="6779110" cy="923330"/>
            <a:chOff x="1172584" y="1381459"/>
            <a:chExt cx="6779110" cy="923330"/>
          </a:xfrm>
        </p:grpSpPr>
        <p:sp>
          <p:nvSpPr>
            <p:cNvPr id="9" name="TextBox 8"/>
            <p:cNvSpPr txBox="1"/>
            <p:nvPr/>
          </p:nvSpPr>
          <p:spPr>
            <a:xfrm>
              <a:off x="4147073" y="1381459"/>
              <a:ext cx="877163" cy="9233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5400" dirty="0" smtClean="0">
                  <a:solidFill>
                    <a:schemeClr val="tx2">
                      <a:lumMod val="60000"/>
                      <a:lumOff val="40000"/>
                    </a:schemeClr>
                  </a:solidFill>
                  <a:latin typeface="Wingdings" pitchFamily="2" charset="2"/>
                </a:rPr>
                <a:t></a:t>
              </a:r>
              <a:endParaRPr lang="en-US" sz="5400" dirty="0">
                <a:solidFill>
                  <a:schemeClr val="tx2">
                    <a:lumMod val="60000"/>
                    <a:lumOff val="40000"/>
                  </a:schemeClr>
                </a:solidFill>
                <a:latin typeface="Wingdings" pitchFamily="2" charset="2"/>
              </a:endParaRPr>
            </a:p>
          </p:txBody>
        </p:sp>
        <p:cxnSp>
          <p:nvCxnSpPr>
            <p:cNvPr id="10" name="Straight Connector 9"/>
            <p:cNvCxnSpPr/>
            <p:nvPr/>
          </p:nvCxnSpPr>
          <p:spPr>
            <a:xfrm rot="10800000">
              <a:off x="1172584" y="1925620"/>
              <a:ext cx="3119718" cy="1588"/>
            </a:xfrm>
            <a:prstGeom prst="line">
              <a:avLst/>
            </a:prstGeom>
            <a:ln>
              <a:solidFill>
                <a:schemeClr val="tx2">
                  <a:lumMod val="60000"/>
                  <a:lumOff val="40000"/>
                </a:schemeClr>
              </a:solidFill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>
            <a:xfrm rot="10800000">
              <a:off x="4831976" y="1927412"/>
              <a:ext cx="3119718" cy="1588"/>
            </a:xfrm>
            <a:prstGeom prst="line">
              <a:avLst/>
            </a:prstGeom>
            <a:ln>
              <a:solidFill>
                <a:schemeClr val="tx2">
                  <a:lumMod val="60000"/>
                  <a:lumOff val="40000"/>
                </a:schemeClr>
              </a:solidFill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0040" y="1204857"/>
            <a:ext cx="7754713" cy="1910716"/>
          </a:xfrm>
        </p:spPr>
        <p:txBody>
          <a:bodyPr anchor="b"/>
          <a:lstStyle>
            <a:lvl1pPr algn="ctr">
              <a:defRPr sz="5400" b="0" cap="none" baseline="0">
                <a:solidFill>
                  <a:schemeClr val="tx2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99248" y="3767316"/>
            <a:ext cx="7734747" cy="1500187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  <p:sp>
        <p:nvSpPr>
          <p:cNvPr id="12" name="Title 1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grpSp>
        <p:nvGrpSpPr>
          <p:cNvPr id="13" name="Group 12"/>
          <p:cNvGrpSpPr/>
          <p:nvPr/>
        </p:nvGrpSpPr>
        <p:grpSpPr>
          <a:xfrm>
            <a:off x="1172584" y="1392217"/>
            <a:ext cx="6779110" cy="923330"/>
            <a:chOff x="1172584" y="1381459"/>
            <a:chExt cx="6779110" cy="923330"/>
          </a:xfrm>
        </p:grpSpPr>
        <p:sp>
          <p:nvSpPr>
            <p:cNvPr id="14" name="TextBox 13"/>
            <p:cNvSpPr txBox="1"/>
            <p:nvPr/>
          </p:nvSpPr>
          <p:spPr>
            <a:xfrm>
              <a:off x="4147073" y="1381459"/>
              <a:ext cx="877163" cy="9233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5400" dirty="0" smtClean="0">
                  <a:solidFill>
                    <a:schemeClr val="tx2">
                      <a:lumMod val="60000"/>
                      <a:lumOff val="40000"/>
                    </a:schemeClr>
                  </a:solidFill>
                  <a:latin typeface="Wingdings" pitchFamily="2" charset="2"/>
                </a:rPr>
                <a:t></a:t>
              </a:r>
              <a:endParaRPr lang="en-US" sz="5400" dirty="0">
                <a:solidFill>
                  <a:schemeClr val="tx2">
                    <a:lumMod val="60000"/>
                    <a:lumOff val="40000"/>
                  </a:schemeClr>
                </a:solidFill>
                <a:latin typeface="Wingdings" pitchFamily="2" charset="2"/>
              </a:endParaRPr>
            </a:p>
          </p:txBody>
        </p:sp>
        <p:cxnSp>
          <p:nvCxnSpPr>
            <p:cNvPr id="15" name="Straight Connector 14"/>
            <p:cNvCxnSpPr/>
            <p:nvPr/>
          </p:nvCxnSpPr>
          <p:spPr>
            <a:xfrm rot="10800000">
              <a:off x="1172584" y="1925620"/>
              <a:ext cx="3119718" cy="1588"/>
            </a:xfrm>
            <a:prstGeom prst="line">
              <a:avLst/>
            </a:prstGeom>
            <a:ln>
              <a:solidFill>
                <a:schemeClr val="tx2">
                  <a:lumMod val="60000"/>
                  <a:lumOff val="40000"/>
                </a:schemeClr>
              </a:solidFill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/>
            <p:nvPr/>
          </p:nvCxnSpPr>
          <p:spPr>
            <a:xfrm rot="10800000">
              <a:off x="4831976" y="1922650"/>
              <a:ext cx="3119718" cy="1588"/>
            </a:xfrm>
            <a:prstGeom prst="line">
              <a:avLst/>
            </a:prstGeom>
            <a:ln>
              <a:solidFill>
                <a:schemeClr val="tx2">
                  <a:lumMod val="60000"/>
                  <a:lumOff val="40000"/>
                </a:schemeClr>
              </a:solidFill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Content Placeholder 7"/>
          <p:cNvSpPr>
            <a:spLocks noGrp="1"/>
          </p:cNvSpPr>
          <p:nvPr>
            <p:ph sz="quarter" idx="13"/>
          </p:nvPr>
        </p:nvSpPr>
        <p:spPr>
          <a:xfrm>
            <a:off x="685800" y="2240280"/>
            <a:ext cx="3803904" cy="3877056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/>
          </a:p>
        </p:txBody>
      </p:sp>
      <p:sp>
        <p:nvSpPr>
          <p:cNvPr id="10" name="Content Placeholder 9"/>
          <p:cNvSpPr>
            <a:spLocks noGrp="1"/>
          </p:cNvSpPr>
          <p:nvPr>
            <p:ph sz="quarter" idx="14"/>
          </p:nvPr>
        </p:nvSpPr>
        <p:spPr>
          <a:xfrm>
            <a:off x="4645151" y="2240280"/>
            <a:ext cx="3803904" cy="3877056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 smtClean="0"/>
              <a:t>Образец заголовка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51560" y="2240280"/>
            <a:ext cx="3442446" cy="658368"/>
          </a:xfrm>
        </p:spPr>
        <p:txBody>
          <a:bodyPr anchor="b"/>
          <a:lstStyle>
            <a:lvl1pPr marL="0" indent="0" algn="ctr">
              <a:buNone/>
              <a:defRPr sz="2400" b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8488" y="2947595"/>
            <a:ext cx="3803904" cy="317296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02306" y="2240280"/>
            <a:ext cx="3447288" cy="658368"/>
          </a:xfrm>
        </p:spPr>
        <p:txBody>
          <a:bodyPr anchor="b"/>
          <a:lstStyle>
            <a:lvl1pPr marL="0" indent="0" algn="ctr">
              <a:buNone/>
              <a:defRPr sz="2400" b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2944368"/>
            <a:ext cx="3799728" cy="317296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  <p:grpSp>
        <p:nvGrpSpPr>
          <p:cNvPr id="14" name="Group 13"/>
          <p:cNvGrpSpPr/>
          <p:nvPr/>
        </p:nvGrpSpPr>
        <p:grpSpPr>
          <a:xfrm>
            <a:off x="1172584" y="1392217"/>
            <a:ext cx="6779110" cy="923330"/>
            <a:chOff x="1172584" y="1381459"/>
            <a:chExt cx="6779110" cy="923330"/>
          </a:xfrm>
        </p:grpSpPr>
        <p:sp>
          <p:nvSpPr>
            <p:cNvPr id="16" name="TextBox 15"/>
            <p:cNvSpPr txBox="1"/>
            <p:nvPr/>
          </p:nvSpPr>
          <p:spPr>
            <a:xfrm>
              <a:off x="4147073" y="1381459"/>
              <a:ext cx="877163" cy="9233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5400" dirty="0" smtClean="0">
                  <a:solidFill>
                    <a:schemeClr val="tx2">
                      <a:lumMod val="60000"/>
                      <a:lumOff val="40000"/>
                    </a:schemeClr>
                  </a:solidFill>
                  <a:latin typeface="Wingdings" pitchFamily="2" charset="2"/>
                </a:rPr>
                <a:t></a:t>
              </a:r>
              <a:endParaRPr lang="en-US" sz="5400" dirty="0">
                <a:solidFill>
                  <a:schemeClr val="tx2">
                    <a:lumMod val="60000"/>
                    <a:lumOff val="40000"/>
                  </a:schemeClr>
                </a:solidFill>
                <a:latin typeface="Wingdings" pitchFamily="2" charset="2"/>
              </a:endParaRPr>
            </a:p>
          </p:txBody>
        </p:sp>
        <p:cxnSp>
          <p:nvCxnSpPr>
            <p:cNvPr id="17" name="Straight Connector 16"/>
            <p:cNvCxnSpPr/>
            <p:nvPr/>
          </p:nvCxnSpPr>
          <p:spPr>
            <a:xfrm rot="10800000">
              <a:off x="1172584" y="1925620"/>
              <a:ext cx="3119718" cy="1588"/>
            </a:xfrm>
            <a:prstGeom prst="line">
              <a:avLst/>
            </a:prstGeom>
            <a:ln>
              <a:solidFill>
                <a:schemeClr val="tx2">
                  <a:lumMod val="60000"/>
                  <a:lumOff val="40000"/>
                </a:schemeClr>
              </a:solidFill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>
            <a:xfrm rot="10800000">
              <a:off x="4831976" y="1922650"/>
              <a:ext cx="3119718" cy="1588"/>
            </a:xfrm>
            <a:prstGeom prst="line">
              <a:avLst/>
            </a:prstGeom>
            <a:ln>
              <a:solidFill>
                <a:schemeClr val="tx2">
                  <a:lumMod val="60000"/>
                  <a:lumOff val="40000"/>
                </a:schemeClr>
              </a:solidFill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  <p:grpSp>
        <p:nvGrpSpPr>
          <p:cNvPr id="10" name="Group 9"/>
          <p:cNvGrpSpPr/>
          <p:nvPr/>
        </p:nvGrpSpPr>
        <p:grpSpPr>
          <a:xfrm>
            <a:off x="1172584" y="1392217"/>
            <a:ext cx="6779110" cy="923330"/>
            <a:chOff x="1172584" y="1381459"/>
            <a:chExt cx="6779110" cy="923330"/>
          </a:xfrm>
        </p:grpSpPr>
        <p:sp>
          <p:nvSpPr>
            <p:cNvPr id="14" name="TextBox 13"/>
            <p:cNvSpPr txBox="1"/>
            <p:nvPr/>
          </p:nvSpPr>
          <p:spPr>
            <a:xfrm>
              <a:off x="4147073" y="1381459"/>
              <a:ext cx="877163" cy="9233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5400" dirty="0" smtClean="0">
                  <a:solidFill>
                    <a:schemeClr val="tx2">
                      <a:lumMod val="60000"/>
                      <a:lumOff val="40000"/>
                    </a:schemeClr>
                  </a:solidFill>
                  <a:latin typeface="Wingdings" pitchFamily="2" charset="2"/>
                </a:rPr>
                <a:t></a:t>
              </a:r>
              <a:endParaRPr lang="en-US" sz="5400" dirty="0">
                <a:solidFill>
                  <a:schemeClr val="tx2">
                    <a:lumMod val="60000"/>
                    <a:lumOff val="40000"/>
                  </a:schemeClr>
                </a:solidFill>
                <a:latin typeface="Wingdings" pitchFamily="2" charset="2"/>
              </a:endParaRPr>
            </a:p>
          </p:txBody>
        </p:sp>
        <p:cxnSp>
          <p:nvCxnSpPr>
            <p:cNvPr id="15" name="Straight Connector 14"/>
            <p:cNvCxnSpPr/>
            <p:nvPr/>
          </p:nvCxnSpPr>
          <p:spPr>
            <a:xfrm rot="10800000">
              <a:off x="1172584" y="1925620"/>
              <a:ext cx="3119718" cy="1588"/>
            </a:xfrm>
            <a:prstGeom prst="line">
              <a:avLst/>
            </a:prstGeom>
            <a:ln>
              <a:solidFill>
                <a:schemeClr val="tx2">
                  <a:lumMod val="60000"/>
                  <a:lumOff val="40000"/>
                </a:schemeClr>
              </a:solidFill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/>
            <p:nvPr/>
          </p:nvCxnSpPr>
          <p:spPr>
            <a:xfrm rot="10800000">
              <a:off x="4831976" y="1922650"/>
              <a:ext cx="3119718" cy="1588"/>
            </a:xfrm>
            <a:prstGeom prst="line">
              <a:avLst/>
            </a:prstGeom>
            <a:ln>
              <a:solidFill>
                <a:schemeClr val="tx2">
                  <a:lumMod val="60000"/>
                  <a:lumOff val="40000"/>
                </a:schemeClr>
              </a:solidFill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34579" y="1678195"/>
            <a:ext cx="3422483" cy="1886921"/>
          </a:xfrm>
        </p:spPr>
        <p:txBody>
          <a:bodyPr anchor="b"/>
          <a:lstStyle>
            <a:lvl1pPr algn="l">
              <a:defRPr sz="2800" b="0"/>
            </a:lvl1pPr>
          </a:lstStyle>
          <a:p>
            <a:r>
              <a:rPr lang="ru-RU" smtClean="0"/>
              <a:t>Образец заголовка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92001" y="559398"/>
            <a:ext cx="4116667" cy="5566765"/>
          </a:xfrm>
        </p:spPr>
        <p:txBody>
          <a:bodyPr anchor="ctr"/>
          <a:lstStyle>
            <a:lvl1pPr>
              <a:defRPr sz="2400"/>
            </a:lvl1pPr>
            <a:lvl2pPr>
              <a:defRPr sz="2200"/>
            </a:lvl2pPr>
            <a:lvl3pPr>
              <a:defRPr sz="2000"/>
            </a:lvl3pPr>
            <a:lvl4pPr>
              <a:defRPr sz="18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34579" y="3603812"/>
            <a:ext cx="3411725" cy="2517289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731" y="4668818"/>
            <a:ext cx="7767021" cy="644729"/>
          </a:xfrm>
        </p:spPr>
        <p:txBody>
          <a:bodyPr anchor="b"/>
          <a:lstStyle>
            <a:lvl1pPr algn="ctr">
              <a:defRPr sz="2800" b="0"/>
            </a:lvl1pPr>
          </a:lstStyle>
          <a:p>
            <a:r>
              <a:rPr lang="ru-RU" smtClean="0"/>
              <a:t>Образец заголовка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 rot="240000">
            <a:off x="2183792" y="666965"/>
            <a:ext cx="4772156" cy="3598016"/>
          </a:xfr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65000" dist="50800" dir="12900000" kx="195000" ky="145000" algn="tl" rotWithShape="0">
              <a:srgbClr val="000000">
                <a:alpha val="24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8489" y="5324306"/>
            <a:ext cx="7756264" cy="804862"/>
          </a:xfrm>
        </p:spPr>
        <p:txBody>
          <a:bodyPr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ctr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  <p:grpSp>
        <p:nvGrpSpPr>
          <p:cNvPr id="11" name="Group 10"/>
          <p:cNvGrpSpPr/>
          <p:nvPr/>
        </p:nvGrpSpPr>
        <p:grpSpPr>
          <a:xfrm>
            <a:off x="1172584" y="1392217"/>
            <a:ext cx="6779110" cy="923330"/>
            <a:chOff x="1172584" y="1381459"/>
            <a:chExt cx="6779110" cy="923330"/>
          </a:xfrm>
        </p:grpSpPr>
        <p:sp>
          <p:nvSpPr>
            <p:cNvPr id="15" name="TextBox 14"/>
            <p:cNvSpPr txBox="1"/>
            <p:nvPr/>
          </p:nvSpPr>
          <p:spPr>
            <a:xfrm>
              <a:off x="4147073" y="1381459"/>
              <a:ext cx="877163" cy="9233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5400" dirty="0" smtClean="0">
                  <a:solidFill>
                    <a:schemeClr val="tx2">
                      <a:lumMod val="60000"/>
                      <a:lumOff val="40000"/>
                    </a:schemeClr>
                  </a:solidFill>
                  <a:latin typeface="Wingdings" pitchFamily="2" charset="2"/>
                </a:rPr>
                <a:t></a:t>
              </a:r>
              <a:endParaRPr lang="en-US" sz="5400" dirty="0">
                <a:solidFill>
                  <a:schemeClr val="tx2">
                    <a:lumMod val="60000"/>
                    <a:lumOff val="40000"/>
                  </a:schemeClr>
                </a:solidFill>
                <a:latin typeface="Wingdings" pitchFamily="2" charset="2"/>
              </a:endParaRPr>
            </a:p>
          </p:txBody>
        </p:sp>
        <p:cxnSp>
          <p:nvCxnSpPr>
            <p:cNvPr id="16" name="Straight Connector 15"/>
            <p:cNvCxnSpPr/>
            <p:nvPr/>
          </p:nvCxnSpPr>
          <p:spPr>
            <a:xfrm rot="10800000">
              <a:off x="1172584" y="1925620"/>
              <a:ext cx="3119718" cy="1588"/>
            </a:xfrm>
            <a:prstGeom prst="line">
              <a:avLst/>
            </a:prstGeom>
            <a:ln>
              <a:solidFill>
                <a:schemeClr val="tx2">
                  <a:lumMod val="60000"/>
                  <a:lumOff val="40000"/>
                </a:schemeClr>
              </a:solidFill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/>
            <p:cNvCxnSpPr/>
            <p:nvPr/>
          </p:nvCxnSpPr>
          <p:spPr>
            <a:xfrm rot="10800000">
              <a:off x="4831976" y="1922650"/>
              <a:ext cx="3119718" cy="1588"/>
            </a:xfrm>
            <a:prstGeom prst="line">
              <a:avLst/>
            </a:prstGeom>
            <a:ln>
              <a:solidFill>
                <a:schemeClr val="tx2">
                  <a:lumMod val="60000"/>
                  <a:lumOff val="40000"/>
                </a:schemeClr>
              </a:solidFill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766560" y="559398"/>
            <a:ext cx="1678193" cy="5566765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8488" y="849854"/>
            <a:ext cx="5507917" cy="5023821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  <p:grpSp>
        <p:nvGrpSpPr>
          <p:cNvPr id="11" name="Group 10"/>
          <p:cNvGrpSpPr/>
          <p:nvPr/>
        </p:nvGrpSpPr>
        <p:grpSpPr>
          <a:xfrm rot="5400000">
            <a:off x="3909050" y="2880823"/>
            <a:ext cx="5480154" cy="923330"/>
            <a:chOff x="1815339" y="1381459"/>
            <a:chExt cx="5480154" cy="923330"/>
          </a:xfrm>
        </p:grpSpPr>
        <p:sp>
          <p:nvSpPr>
            <p:cNvPr id="12" name="TextBox 11"/>
            <p:cNvSpPr txBox="1"/>
            <p:nvPr/>
          </p:nvSpPr>
          <p:spPr>
            <a:xfrm>
              <a:off x="4147073" y="1381459"/>
              <a:ext cx="877163" cy="9233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5400" dirty="0" smtClean="0">
                  <a:solidFill>
                    <a:schemeClr val="tx2">
                      <a:lumMod val="60000"/>
                      <a:lumOff val="40000"/>
                    </a:schemeClr>
                  </a:solidFill>
                  <a:latin typeface="Wingdings" pitchFamily="2" charset="2"/>
                </a:rPr>
                <a:t></a:t>
              </a:r>
              <a:endParaRPr lang="en-US" sz="5400" dirty="0">
                <a:solidFill>
                  <a:schemeClr val="tx2">
                    <a:lumMod val="60000"/>
                    <a:lumOff val="40000"/>
                  </a:schemeClr>
                </a:solidFill>
                <a:latin typeface="Wingdings" pitchFamily="2" charset="2"/>
              </a:endParaRPr>
            </a:p>
          </p:txBody>
        </p:sp>
        <p:cxnSp>
          <p:nvCxnSpPr>
            <p:cNvPr id="13" name="Straight Connector 12"/>
            <p:cNvCxnSpPr/>
            <p:nvPr/>
          </p:nvCxnSpPr>
          <p:spPr>
            <a:xfrm flipH="1" flipV="1">
              <a:off x="1815339" y="1924709"/>
              <a:ext cx="2468880" cy="2505"/>
            </a:xfrm>
            <a:prstGeom prst="line">
              <a:avLst/>
            </a:prstGeom>
            <a:ln>
              <a:solidFill>
                <a:schemeClr val="tx2">
                  <a:lumMod val="60000"/>
                  <a:lumOff val="40000"/>
                </a:schemeClr>
              </a:solidFill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/>
            <p:cNvCxnSpPr/>
            <p:nvPr/>
          </p:nvCxnSpPr>
          <p:spPr>
            <a:xfrm rot="10800000">
              <a:off x="4826613" y="1927417"/>
              <a:ext cx="2468880" cy="1588"/>
            </a:xfrm>
            <a:prstGeom prst="line">
              <a:avLst/>
            </a:prstGeom>
            <a:ln>
              <a:solidFill>
                <a:schemeClr val="tx2">
                  <a:lumMod val="60000"/>
                  <a:lumOff val="40000"/>
                </a:schemeClr>
              </a:solidFill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gradFill flip="none" rotWithShape="1">
            <a:gsLst>
              <a:gs pos="83000">
                <a:schemeClr val="bg1">
                  <a:alpha val="11000"/>
                </a:schemeClr>
              </a:gs>
              <a:gs pos="100000">
                <a:schemeClr val="bg2">
                  <a:lumMod val="75000"/>
                  <a:alpha val="23000"/>
                </a:schemeClr>
              </a:gs>
            </a:gsLst>
            <a:path path="rect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8490" y="570156"/>
            <a:ext cx="7756263" cy="105425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99247" y="2248347"/>
            <a:ext cx="7745505" cy="387781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60378" y="6161442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2"/>
                </a:solidFill>
              </a:defRPr>
            </a:lvl1pPr>
          </a:lstStyle>
          <a:p>
            <a:fld id="{B4C71EC6-210F-42DE-9C53-41977AD35B3D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16144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2"/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639264" y="6161442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2"/>
                </a:solidFill>
              </a:defRPr>
            </a:lvl1pPr>
          </a:lstStyle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540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65760" indent="-365760" algn="l" defTabSz="914400" rtl="0" eaLnBrk="1" latinLnBrk="0" hangingPunct="1">
        <a:spcBef>
          <a:spcPct val="20000"/>
        </a:spcBef>
        <a:buClr>
          <a:schemeClr val="accent1"/>
        </a:buClr>
        <a:buFont typeface="Wingdings" pitchFamily="2" charset="2"/>
        <a:buChar char=""/>
        <a:defRPr sz="2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777240" indent="-365760" algn="l" defTabSz="914400" rtl="0" eaLnBrk="1" latinLnBrk="0" hangingPunct="1">
        <a:spcBef>
          <a:spcPct val="20000"/>
        </a:spcBef>
        <a:buClr>
          <a:schemeClr val="accent1"/>
        </a:buClr>
        <a:buFont typeface="Wingdings" pitchFamily="2" charset="2"/>
        <a:buChar char=""/>
        <a:defRPr sz="22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1143000" indent="-365760" algn="l" defTabSz="914400" rtl="0" eaLnBrk="1" latinLnBrk="0" hangingPunct="1">
        <a:spcBef>
          <a:spcPct val="20000"/>
        </a:spcBef>
        <a:buClr>
          <a:schemeClr val="accent1"/>
        </a:buClr>
        <a:buFont typeface="Wingdings" pitchFamily="2" charset="2"/>
        <a:buChar char=""/>
        <a:defRPr sz="20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1508760" indent="-320040" algn="l" defTabSz="914400" rtl="0" eaLnBrk="1" latinLnBrk="0" hangingPunct="1">
        <a:spcBef>
          <a:spcPct val="20000"/>
        </a:spcBef>
        <a:buClr>
          <a:schemeClr val="accent1"/>
        </a:buClr>
        <a:buFont typeface="Wingdings" pitchFamily="2" charset="2"/>
        <a:buChar char="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828800" indent="-320040" algn="l" defTabSz="914400" rtl="0" eaLnBrk="1" latinLnBrk="0" hangingPunct="1">
        <a:spcBef>
          <a:spcPct val="20000"/>
        </a:spcBef>
        <a:buClr>
          <a:schemeClr val="accent1"/>
        </a:buClr>
        <a:buFont typeface="Wingdings" pitchFamily="2" charset="2"/>
        <a:buChar char="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2148840" indent="-274320" algn="l" defTabSz="914400" rtl="0" eaLnBrk="1" latinLnBrk="0" hangingPunct="1">
        <a:spcBef>
          <a:spcPts val="400"/>
        </a:spcBef>
        <a:buClr>
          <a:schemeClr val="accent1"/>
        </a:buClr>
        <a:buFont typeface="Wingdings" pitchFamily="2" charset="2"/>
        <a:buChar char="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468880" indent="-274320" algn="l" defTabSz="914400" rtl="0" eaLnBrk="1" latinLnBrk="0" hangingPunct="1">
        <a:spcBef>
          <a:spcPts val="400"/>
        </a:spcBef>
        <a:buClr>
          <a:schemeClr val="accent1"/>
        </a:buClr>
        <a:buFont typeface="Wingdings" pitchFamily="2" charset="2"/>
        <a:buChar char="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2788920" indent="-274320" algn="l" defTabSz="914400" rtl="0" eaLnBrk="1" latinLnBrk="0" hangingPunct="1">
        <a:spcBef>
          <a:spcPts val="400"/>
        </a:spcBef>
        <a:buClr>
          <a:schemeClr val="accent1"/>
        </a:buClr>
        <a:buFont typeface="Wingdings" pitchFamily="2" charset="2"/>
        <a:buChar char="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108960" indent="-274320" algn="l" defTabSz="914400" rtl="0" eaLnBrk="1" latinLnBrk="0" hangingPunct="1">
        <a:spcBef>
          <a:spcPts val="400"/>
        </a:spcBef>
        <a:buClr>
          <a:schemeClr val="accent1"/>
        </a:buClr>
        <a:buFont typeface="Wingdings" pitchFamily="2" charset="2"/>
        <a:buChar char="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sz="3200" dirty="0" smtClean="0"/>
              <a:t>Проектирование информационной системы «Страховая компания»</a:t>
            </a:r>
            <a:endParaRPr lang="ru-RU" sz="3200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371600" y="3767862"/>
            <a:ext cx="7448872" cy="1752600"/>
          </a:xfrm>
        </p:spPr>
        <p:txBody>
          <a:bodyPr>
            <a:normAutofit/>
          </a:bodyPr>
          <a:lstStyle/>
          <a:p>
            <a:pPr algn="r"/>
            <a:r>
              <a:rPr lang="ru-RU" sz="1600" dirty="0" smtClean="0"/>
              <a:t>Выполнил</a:t>
            </a:r>
            <a:r>
              <a:rPr lang="en-US" sz="1600" dirty="0" smtClean="0"/>
              <a:t>: </a:t>
            </a:r>
            <a:r>
              <a:rPr lang="ru-RU" sz="1600" dirty="0" smtClean="0"/>
              <a:t>Богатырев М.А.</a:t>
            </a:r>
          </a:p>
          <a:p>
            <a:pPr algn="r"/>
            <a:r>
              <a:rPr lang="ru-RU" sz="1600" dirty="0" smtClean="0"/>
              <a:t>Студент 1 курса очной формы обучения,</a:t>
            </a:r>
          </a:p>
          <a:p>
            <a:pPr algn="r"/>
            <a:r>
              <a:rPr lang="ru-RU" sz="1600" dirty="0" smtClean="0"/>
              <a:t>Группы ИСиП 25-11-1</a:t>
            </a:r>
          </a:p>
          <a:p>
            <a:pPr algn="r"/>
            <a:r>
              <a:rPr lang="ru-RU" sz="1600" dirty="0" smtClean="0"/>
              <a:t>Проверила: Гончарова Т.В., должность</a:t>
            </a:r>
            <a:r>
              <a:rPr lang="en-US" sz="1600" dirty="0" smtClean="0"/>
              <a:t>:</a:t>
            </a:r>
            <a:endParaRPr lang="ru-RU" sz="1600" dirty="0" smtClean="0"/>
          </a:p>
          <a:p>
            <a:pPr algn="r"/>
            <a:r>
              <a:rPr lang="ru-RU" sz="1600" dirty="0" smtClean="0"/>
              <a:t>Преподаватель проф. дисциплин</a:t>
            </a:r>
            <a:endParaRPr lang="ru-RU" sz="1600" dirty="0"/>
          </a:p>
        </p:txBody>
      </p:sp>
      <p:sp>
        <p:nvSpPr>
          <p:cNvPr id="4" name="Прямоугольник 3"/>
          <p:cNvSpPr/>
          <p:nvPr/>
        </p:nvSpPr>
        <p:spPr>
          <a:xfrm>
            <a:off x="0" y="369651"/>
            <a:ext cx="9144000" cy="13665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1000"/>
              </a:spcAft>
            </a:pPr>
            <a:r>
              <a:rPr lang="ru-RU" dirty="0">
                <a:ea typeface="Calibri" panose="020F0502020204030204" pitchFamily="34" charset="0"/>
                <a:cs typeface="Times New Roman" panose="02020603050405020304" pitchFamily="18" charset="0"/>
              </a:rPr>
              <a:t>Государственное автономное профессиональное учреждение </a:t>
            </a:r>
            <a:br>
              <a:rPr lang="ru-RU" dirty="0">
                <a:ea typeface="Calibri" panose="020F0502020204030204" pitchFamily="34" charset="0"/>
                <a:cs typeface="Times New Roman" panose="02020603050405020304" pitchFamily="18" charset="0"/>
              </a:rPr>
            </a:br>
            <a:r>
              <a:rPr lang="ru-RU" dirty="0">
                <a:ea typeface="Calibri" panose="020F0502020204030204" pitchFamily="34" charset="0"/>
                <a:cs typeface="Times New Roman" panose="02020603050405020304" pitchFamily="18" charset="0"/>
              </a:rPr>
              <a:t>Тюменской области </a:t>
            </a:r>
            <a:br>
              <a:rPr lang="ru-RU" dirty="0">
                <a:ea typeface="Calibri" panose="020F0502020204030204" pitchFamily="34" charset="0"/>
                <a:cs typeface="Times New Roman" panose="02020603050405020304" pitchFamily="18" charset="0"/>
              </a:rPr>
            </a:br>
            <a:r>
              <a:rPr lang="ru-RU" dirty="0">
                <a:ea typeface="Calibri" panose="020F0502020204030204" pitchFamily="34" charset="0"/>
                <a:cs typeface="Times New Roman" panose="02020603050405020304" pitchFamily="18" charset="0"/>
              </a:rPr>
              <a:t>«ТЮМЕНСКИЙ ТЕХНИКУМ СТРОИТЕЛЬНОЙ ИНДУСТРИИ И ГОРОДСКОГО ХОЗЯЙСТВА»</a:t>
            </a:r>
            <a:endParaRPr lang="ru-RU" sz="14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" name="Прямоугольник 4"/>
          <p:cNvSpPr/>
          <p:nvPr/>
        </p:nvSpPr>
        <p:spPr>
          <a:xfrm>
            <a:off x="2286000" y="6168605"/>
            <a:ext cx="4572000" cy="390684"/>
          </a:xfrm>
          <a:prstGeom prst="rect">
            <a:avLst/>
          </a:prstGeom>
        </p:spPr>
        <p:txBody>
          <a:bodyPr>
            <a:spAutoFit/>
          </a:bodyPr>
          <a:lstStyle/>
          <a:p>
            <a:pPr algn="ctr">
              <a:lnSpc>
                <a:spcPct val="115000"/>
              </a:lnSpc>
              <a:spcAft>
                <a:spcPts val="1000"/>
              </a:spcAft>
            </a:pPr>
            <a:r>
              <a:rPr lang="ru-RU" dirty="0" smtClean="0">
                <a:ea typeface="Calibri" panose="020F0502020204030204" pitchFamily="34" charset="0"/>
                <a:cs typeface="Times New Roman" panose="02020603050405020304" pitchFamily="18" charset="0"/>
              </a:rPr>
              <a:t>г. Тюмень, 2026 г.</a:t>
            </a:r>
            <a:endParaRPr lang="ru-RU" sz="14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48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ъект 1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ru-RU" dirty="0"/>
              <a:t>Почему эта тема важна сегодня</a:t>
            </a:r>
            <a:r>
              <a:rPr lang="ru-RU" dirty="0" smtClean="0"/>
              <a:t>?</a:t>
            </a:r>
            <a:endParaRPr lang="ru-RU" dirty="0"/>
          </a:p>
          <a:p>
            <a:r>
              <a:rPr lang="ru-RU" dirty="0"/>
              <a:t>Количество машин на дорогах России ежегодно растёт на 3–5</a:t>
            </a:r>
            <a:r>
              <a:rPr lang="ru-RU" dirty="0" smtClean="0"/>
              <a:t>%.</a:t>
            </a:r>
            <a:endParaRPr lang="ru-RU" dirty="0"/>
          </a:p>
          <a:p>
            <a:r>
              <a:rPr lang="ru-RU" dirty="0"/>
              <a:t>Но многие страховые компании до сих пор работают в </a:t>
            </a:r>
            <a:r>
              <a:rPr lang="ru-RU" dirty="0" err="1"/>
              <a:t>Excel</a:t>
            </a:r>
            <a:r>
              <a:rPr lang="ru-RU" dirty="0"/>
              <a:t> и на бумаге</a:t>
            </a:r>
            <a:r>
              <a:rPr lang="ru-RU" dirty="0" smtClean="0"/>
              <a:t>.</a:t>
            </a:r>
            <a:endParaRPr lang="ru-RU" dirty="0"/>
          </a:p>
          <a:p>
            <a:r>
              <a:rPr lang="ru-RU" dirty="0"/>
              <a:t>Последствия: ошибки в расчётах, потерянные заявления, задержки выплат, недовольные клиенты</a:t>
            </a:r>
            <a:r>
              <a:rPr lang="ru-RU" dirty="0" smtClean="0"/>
              <a:t>.</a:t>
            </a:r>
            <a:endParaRPr lang="ru-RU" dirty="0"/>
          </a:p>
          <a:p>
            <a:r>
              <a:rPr lang="ru-RU" dirty="0"/>
              <a:t>Законодательство (№ 40-ФЗ) требует строгих сроков выплат.</a:t>
            </a:r>
          </a:p>
          <a:p>
            <a:r>
              <a:rPr lang="ru-RU" dirty="0"/>
              <a:t>Поэтому нужна централизованная информационная система, которая автоматизирует всё: от заявки до выплаты.</a:t>
            </a:r>
          </a:p>
          <a:p>
            <a:endParaRPr lang="ru-RU" dirty="0"/>
          </a:p>
          <a:p>
            <a:endParaRPr lang="ru-RU" dirty="0"/>
          </a:p>
        </p:txBody>
      </p:sp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Актуальность </a:t>
            </a:r>
            <a:r>
              <a:rPr lang="ru-RU" dirty="0" smtClean="0"/>
              <a:t>работы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168814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ъект 1"/>
          <p:cNvSpPr>
            <a:spLocks noGrp="1"/>
          </p:cNvSpPr>
          <p:nvPr>
            <p:ph idx="1"/>
          </p:nvPr>
        </p:nvSpPr>
        <p:spPr>
          <a:xfrm>
            <a:off x="699247" y="2248347"/>
            <a:ext cx="7745505" cy="460573"/>
          </a:xfrm>
        </p:spPr>
        <p:txBody>
          <a:bodyPr/>
          <a:lstStyle/>
          <a:p>
            <a:r>
              <a:rPr lang="ru-RU" dirty="0" smtClean="0"/>
              <a:t>Б</a:t>
            </a:r>
            <a:r>
              <a:rPr lang="ru-RU" dirty="0" smtClean="0"/>
              <a:t>изнес-процессы</a:t>
            </a:r>
            <a:endParaRPr lang="ru-RU" dirty="0"/>
          </a:p>
        </p:txBody>
      </p:sp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Что </a:t>
            </a:r>
            <a:r>
              <a:rPr lang="ru-RU" b="1" dirty="0" smtClean="0"/>
              <a:t>автоматизируем</a:t>
            </a:r>
            <a:endParaRPr lang="ru-RU" dirty="0"/>
          </a:p>
        </p:txBody>
      </p:sp>
      <p:sp>
        <p:nvSpPr>
          <p:cNvPr id="4" name="Объект 1"/>
          <p:cNvSpPr txBox="1">
            <a:spLocks/>
          </p:cNvSpPr>
          <p:nvPr/>
        </p:nvSpPr>
        <p:spPr>
          <a:xfrm>
            <a:off x="718614" y="2703891"/>
            <a:ext cx="3872752" cy="389346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65760" indent="-36576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itchFamily="2" charset="2"/>
              <a:buChar char=""/>
              <a:defRPr sz="2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77240" indent="-36576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itchFamily="2" charset="2"/>
              <a:buChar char=""/>
              <a:defRPr sz="22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36576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itchFamily="2" charset="2"/>
              <a:buChar char=""/>
              <a:defRPr sz="20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508760" indent="-32004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itchFamily="2" charset="2"/>
              <a:buChar char="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-32004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itchFamily="2" charset="2"/>
              <a:buChar char="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148840" indent="-274320" algn="l" defTabSz="914400" rtl="0" eaLnBrk="1" latinLnBrk="0" hangingPunct="1">
              <a:spcBef>
                <a:spcPts val="400"/>
              </a:spcBef>
              <a:buClr>
                <a:schemeClr val="accent1"/>
              </a:buClr>
              <a:buFont typeface="Wingdings" pitchFamily="2" charset="2"/>
              <a:buChar char="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68880" indent="-274320" algn="l" defTabSz="914400" rtl="0" eaLnBrk="1" latinLnBrk="0" hangingPunct="1">
              <a:spcBef>
                <a:spcPts val="400"/>
              </a:spcBef>
              <a:buClr>
                <a:schemeClr val="accent1"/>
              </a:buClr>
              <a:buFont typeface="Wingdings" pitchFamily="2" charset="2"/>
              <a:buChar char="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88920" indent="-274320" algn="l" defTabSz="914400" rtl="0" eaLnBrk="1" latinLnBrk="0" hangingPunct="1">
              <a:spcBef>
                <a:spcPts val="400"/>
              </a:spcBef>
              <a:buClr>
                <a:schemeClr val="accent1"/>
              </a:buClr>
              <a:buFont typeface="Wingdings" pitchFamily="2" charset="2"/>
              <a:buChar char="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108960" indent="-274320" algn="l" defTabSz="914400" rtl="0" eaLnBrk="1" latinLnBrk="0" hangingPunct="1">
              <a:spcBef>
                <a:spcPts val="400"/>
              </a:spcBef>
              <a:buClr>
                <a:schemeClr val="accent1"/>
              </a:buClr>
              <a:buFont typeface="Wingdings" pitchFamily="2" charset="2"/>
              <a:buChar char="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b="1" dirty="0"/>
              <a:t>Первый </a:t>
            </a:r>
            <a:r>
              <a:rPr lang="en-US" b="1" dirty="0" smtClean="0"/>
              <a:t>- </a:t>
            </a:r>
            <a:r>
              <a:rPr lang="ru-RU" b="1" dirty="0" smtClean="0"/>
              <a:t>заключение </a:t>
            </a:r>
            <a:r>
              <a:rPr lang="ru-RU" b="1" dirty="0"/>
              <a:t>договора страхования:</a:t>
            </a:r>
            <a:endParaRPr lang="ru-RU" dirty="0"/>
          </a:p>
          <a:p>
            <a:r>
              <a:rPr lang="ru-RU" dirty="0"/>
              <a:t>Клиент оставляет заявку.</a:t>
            </a:r>
          </a:p>
          <a:p>
            <a:r>
              <a:rPr lang="ru-RU" dirty="0"/>
              <a:t>Менеджер рассчитывает стоимость.</a:t>
            </a:r>
          </a:p>
          <a:p>
            <a:r>
              <a:rPr lang="ru-RU" dirty="0"/>
              <a:t>Клиент оплачивает онлайн.</a:t>
            </a:r>
          </a:p>
          <a:p>
            <a:r>
              <a:rPr lang="ru-RU" dirty="0"/>
              <a:t>Система выдаёт электронный полис.</a:t>
            </a:r>
          </a:p>
        </p:txBody>
      </p:sp>
      <p:sp>
        <p:nvSpPr>
          <p:cNvPr id="5" name="Объект 1"/>
          <p:cNvSpPr txBox="1">
            <a:spLocks/>
          </p:cNvSpPr>
          <p:nvPr/>
        </p:nvSpPr>
        <p:spPr>
          <a:xfrm>
            <a:off x="4584194" y="2703891"/>
            <a:ext cx="3872752" cy="3893461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365760" indent="-36576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itchFamily="2" charset="2"/>
              <a:buChar char=""/>
              <a:defRPr sz="2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77240" indent="-36576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itchFamily="2" charset="2"/>
              <a:buChar char=""/>
              <a:defRPr sz="22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36576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itchFamily="2" charset="2"/>
              <a:buChar char=""/>
              <a:defRPr sz="20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508760" indent="-32004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itchFamily="2" charset="2"/>
              <a:buChar char="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-32004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itchFamily="2" charset="2"/>
              <a:buChar char="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148840" indent="-274320" algn="l" defTabSz="914400" rtl="0" eaLnBrk="1" latinLnBrk="0" hangingPunct="1">
              <a:spcBef>
                <a:spcPts val="400"/>
              </a:spcBef>
              <a:buClr>
                <a:schemeClr val="accent1"/>
              </a:buClr>
              <a:buFont typeface="Wingdings" pitchFamily="2" charset="2"/>
              <a:buChar char="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68880" indent="-274320" algn="l" defTabSz="914400" rtl="0" eaLnBrk="1" latinLnBrk="0" hangingPunct="1">
              <a:spcBef>
                <a:spcPts val="400"/>
              </a:spcBef>
              <a:buClr>
                <a:schemeClr val="accent1"/>
              </a:buClr>
              <a:buFont typeface="Wingdings" pitchFamily="2" charset="2"/>
              <a:buChar char="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88920" indent="-274320" algn="l" defTabSz="914400" rtl="0" eaLnBrk="1" latinLnBrk="0" hangingPunct="1">
              <a:spcBef>
                <a:spcPts val="400"/>
              </a:spcBef>
              <a:buClr>
                <a:schemeClr val="accent1"/>
              </a:buClr>
              <a:buFont typeface="Wingdings" pitchFamily="2" charset="2"/>
              <a:buChar char="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108960" indent="-274320" algn="l" defTabSz="914400" rtl="0" eaLnBrk="1" latinLnBrk="0" hangingPunct="1">
              <a:spcBef>
                <a:spcPts val="400"/>
              </a:spcBef>
              <a:buClr>
                <a:schemeClr val="accent1"/>
              </a:buClr>
              <a:buFont typeface="Wingdings" pitchFamily="2" charset="2"/>
              <a:buChar char="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b="1" dirty="0"/>
              <a:t>Второй </a:t>
            </a:r>
            <a:r>
              <a:rPr lang="en-US" b="1" dirty="0" smtClean="0"/>
              <a:t>- </a:t>
            </a:r>
            <a:r>
              <a:rPr lang="ru-RU" b="1" dirty="0" smtClean="0"/>
              <a:t>урегулирование </a:t>
            </a:r>
            <a:r>
              <a:rPr lang="ru-RU" b="1" dirty="0"/>
              <a:t>убытков (ДТП):</a:t>
            </a:r>
            <a:endParaRPr lang="ru-RU" dirty="0"/>
          </a:p>
          <a:p>
            <a:r>
              <a:rPr lang="ru-RU" dirty="0"/>
              <a:t>Клиент сообщает о страховом случае.</a:t>
            </a:r>
          </a:p>
          <a:p>
            <a:r>
              <a:rPr lang="ru-RU" dirty="0"/>
              <a:t>Менеджер регистрирует ДТП.</a:t>
            </a:r>
          </a:p>
          <a:p>
            <a:r>
              <a:rPr lang="ru-RU" dirty="0"/>
              <a:t>Оценщик рассчитывает ущерб.</a:t>
            </a:r>
          </a:p>
          <a:p>
            <a:r>
              <a:rPr lang="ru-RU" dirty="0"/>
              <a:t>Система формирует выплату.</a:t>
            </a:r>
          </a:p>
        </p:txBody>
      </p:sp>
    </p:spTree>
    <p:extLst>
      <p:ext uri="{BB962C8B-B14F-4D97-AF65-F5344CB8AC3E}">
        <p14:creationId xmlns:p14="http://schemas.microsoft.com/office/powerpoint/2010/main" val="27381342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ъект 1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/>
              <a:t>В системе 4 типа пользователей с разными ролями</a:t>
            </a:r>
            <a:r>
              <a:rPr lang="ru-RU" dirty="0" smtClean="0"/>
              <a:t>.</a:t>
            </a:r>
            <a:endParaRPr lang="en-US" dirty="0" smtClean="0"/>
          </a:p>
          <a:p>
            <a:pPr marL="0" indent="0">
              <a:buNone/>
            </a:pPr>
            <a:r>
              <a:rPr lang="ru-RU" b="1" dirty="0"/>
              <a:t>Клиент:</a:t>
            </a:r>
            <a:endParaRPr lang="ru-RU" dirty="0"/>
          </a:p>
          <a:p>
            <a:r>
              <a:rPr lang="ru-RU" dirty="0"/>
              <a:t>Оформляет полисы, платит, заявляет о ДТП, следит за выплатами.</a:t>
            </a:r>
          </a:p>
          <a:p>
            <a:pPr marL="0" indent="0">
              <a:buNone/>
            </a:pPr>
            <a:r>
              <a:rPr lang="ru-RU" b="1" dirty="0"/>
              <a:t>Менеджер:</a:t>
            </a:r>
            <a:endParaRPr lang="ru-RU" dirty="0"/>
          </a:p>
          <a:p>
            <a:r>
              <a:rPr lang="ru-RU" dirty="0"/>
              <a:t>Обрабатывает заявки, рассчитывает страховку, регистрирует страховые случаи.</a:t>
            </a:r>
          </a:p>
          <a:p>
            <a:pPr marL="0" indent="0">
              <a:buNone/>
            </a:pPr>
            <a:r>
              <a:rPr lang="ru-RU" b="1" dirty="0"/>
              <a:t>Оценщик:</a:t>
            </a:r>
            <a:endParaRPr lang="ru-RU" dirty="0"/>
          </a:p>
          <a:p>
            <a:r>
              <a:rPr lang="ru-RU" dirty="0"/>
              <a:t>Вносит результаты осмотра автомобиля.</a:t>
            </a:r>
          </a:p>
          <a:p>
            <a:pPr marL="0" indent="0">
              <a:buNone/>
            </a:pPr>
            <a:r>
              <a:rPr lang="ru-RU" b="1" dirty="0"/>
              <a:t>Администратор:</a:t>
            </a:r>
            <a:endParaRPr lang="ru-RU" dirty="0"/>
          </a:p>
          <a:p>
            <a:r>
              <a:rPr lang="ru-RU" dirty="0"/>
              <a:t>Ведёт справочники, управляет пользователями, делает </a:t>
            </a:r>
            <a:r>
              <a:rPr lang="ru-RU" dirty="0" err="1"/>
              <a:t>бэкапы</a:t>
            </a:r>
            <a:r>
              <a:rPr lang="ru-RU" dirty="0"/>
              <a:t>.</a:t>
            </a:r>
          </a:p>
          <a:p>
            <a:pPr marL="0" indent="0">
              <a:buNone/>
            </a:pPr>
            <a:endParaRPr lang="ru-RU" dirty="0"/>
          </a:p>
        </p:txBody>
      </p:sp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Кто пользуется </a:t>
            </a:r>
            <a:r>
              <a:rPr lang="ru-RU" b="1" dirty="0" smtClean="0"/>
              <a:t>системой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1351704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ъект 1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/>
              <a:t>Я проанализировал, что есть на рынке.</a:t>
            </a:r>
          </a:p>
          <a:p>
            <a:r>
              <a:rPr lang="ru-RU" b="1" dirty="0"/>
              <a:t>«1С:Страховая компания»</a:t>
            </a:r>
            <a:r>
              <a:rPr lang="ru-RU" dirty="0"/>
              <a:t> </a:t>
            </a:r>
            <a:r>
              <a:rPr lang="en-US" dirty="0" smtClean="0"/>
              <a:t>- </a:t>
            </a:r>
            <a:r>
              <a:rPr lang="ru-RU" dirty="0" smtClean="0"/>
              <a:t>дорого</a:t>
            </a:r>
            <a:r>
              <a:rPr lang="ru-RU" dirty="0"/>
              <a:t>, избыточно, сложно дорабатывать, слабый веб-интерфейс.</a:t>
            </a:r>
          </a:p>
          <a:p>
            <a:r>
              <a:rPr lang="ru-RU" b="1" dirty="0"/>
              <a:t>«ИНСИСТРАХ»</a:t>
            </a:r>
            <a:r>
              <a:rPr lang="ru-RU" dirty="0"/>
              <a:t> </a:t>
            </a:r>
            <a:r>
              <a:rPr lang="en-US" dirty="0" smtClean="0"/>
              <a:t>- </a:t>
            </a:r>
            <a:r>
              <a:rPr lang="ru-RU" dirty="0" smtClean="0"/>
              <a:t>ежегодная </a:t>
            </a:r>
            <a:r>
              <a:rPr lang="ru-RU" dirty="0"/>
              <a:t>плата, неудобный интерфейс.</a:t>
            </a:r>
          </a:p>
          <a:p>
            <a:r>
              <a:rPr lang="ru-RU" b="1" dirty="0"/>
              <a:t>Модуль в SAP</a:t>
            </a:r>
            <a:r>
              <a:rPr lang="ru-RU" dirty="0"/>
              <a:t> </a:t>
            </a:r>
            <a:r>
              <a:rPr lang="en-US" dirty="0" smtClean="0"/>
              <a:t>- </a:t>
            </a:r>
            <a:r>
              <a:rPr lang="ru-RU" dirty="0" smtClean="0"/>
              <a:t>только </a:t>
            </a:r>
            <a:r>
              <a:rPr lang="ru-RU" dirty="0"/>
              <a:t>для гигантов, астрономическая цена.</a:t>
            </a:r>
          </a:p>
          <a:p>
            <a:r>
              <a:rPr lang="ru-RU" b="1" dirty="0"/>
              <a:t>Моя система:</a:t>
            </a:r>
            <a:endParaRPr lang="ru-RU" dirty="0"/>
          </a:p>
          <a:p>
            <a:r>
              <a:rPr lang="ru-RU" dirty="0"/>
              <a:t>Низкая </a:t>
            </a:r>
            <a:r>
              <a:rPr lang="ru-RU" dirty="0" smtClean="0"/>
              <a:t>стоимость.</a:t>
            </a:r>
            <a:endParaRPr lang="ru-RU" dirty="0"/>
          </a:p>
          <a:p>
            <a:r>
              <a:rPr lang="ru-RU" dirty="0"/>
              <a:t>Высокая гибкость.</a:t>
            </a:r>
          </a:p>
          <a:p>
            <a:r>
              <a:rPr lang="ru-RU" dirty="0"/>
              <a:t>Заточена именно под автострахование.</a:t>
            </a:r>
          </a:p>
          <a:p>
            <a:r>
              <a:rPr lang="ru-RU" dirty="0"/>
              <a:t>Полноценный веб-интерфейс для клиентов и сотрудников.</a:t>
            </a:r>
          </a:p>
          <a:p>
            <a:endParaRPr lang="ru-RU" dirty="0"/>
          </a:p>
        </p:txBody>
      </p:sp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Сравнение с </a:t>
            </a:r>
            <a:r>
              <a:rPr lang="ru-RU" b="1" dirty="0" smtClean="0"/>
              <a:t>аналогами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2057398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ъект 1"/>
          <p:cNvSpPr>
            <a:spLocks noGrp="1"/>
          </p:cNvSpPr>
          <p:nvPr>
            <p:ph idx="1"/>
          </p:nvPr>
        </p:nvSpPr>
        <p:spPr>
          <a:xfrm>
            <a:off x="699247" y="2248347"/>
            <a:ext cx="7833193" cy="1324669"/>
          </a:xfrm>
        </p:spPr>
        <p:txBody>
          <a:bodyPr>
            <a:normAutofit fontScale="55000" lnSpcReduction="20000"/>
          </a:bodyPr>
          <a:lstStyle/>
          <a:p>
            <a:r>
              <a:rPr lang="ru-RU" b="1" dirty="0"/>
              <a:t>IDEF0 (контекстная диаграмма):</a:t>
            </a:r>
            <a:r>
              <a:rPr lang="ru-RU" dirty="0"/>
              <a:t/>
            </a:r>
            <a:br>
              <a:rPr lang="ru-RU" dirty="0"/>
            </a:br>
            <a:r>
              <a:rPr lang="ru-RU" dirty="0"/>
              <a:t>Показал систему как «чёрный ящик»:</a:t>
            </a:r>
          </a:p>
          <a:p>
            <a:r>
              <a:rPr lang="ru-RU" dirty="0"/>
              <a:t>Входы: заявка, заявление о ДТП, оплата.</a:t>
            </a:r>
          </a:p>
          <a:p>
            <a:r>
              <a:rPr lang="ru-RU" dirty="0"/>
              <a:t>Выходы: полис, выплата, уведомления.</a:t>
            </a:r>
          </a:p>
          <a:p>
            <a:r>
              <a:rPr lang="ru-RU" dirty="0"/>
              <a:t>Управление: законы (№ 40-ФЗ), регламенты компании.</a:t>
            </a:r>
          </a:p>
          <a:p>
            <a:r>
              <a:rPr lang="ru-RU" dirty="0"/>
              <a:t>Механизмы: сотрудники, сама ИС.</a:t>
            </a:r>
          </a:p>
          <a:p>
            <a:pPr marL="0" indent="0">
              <a:buNone/>
            </a:pPr>
            <a:endParaRPr lang="ru-RU" dirty="0"/>
          </a:p>
        </p:txBody>
      </p:sp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 smtClean="0"/>
              <a:t>Модел</a:t>
            </a:r>
            <a:r>
              <a:rPr lang="ru-RU" b="1" dirty="0"/>
              <a:t>ь</a:t>
            </a:r>
            <a:r>
              <a:rPr lang="ru-RU" b="1" dirty="0" smtClean="0"/>
              <a:t> </a:t>
            </a:r>
            <a:r>
              <a:rPr lang="en-US" b="1" dirty="0" smtClean="0"/>
              <a:t>IDEF0</a:t>
            </a:r>
            <a:endParaRPr lang="ru-RU" dirty="0"/>
          </a:p>
        </p:txBody>
      </p:sp>
      <p:pic>
        <p:nvPicPr>
          <p:cNvPr id="1028" name="Picture 4" descr="C:\Users\priko\Downloads\IDEF0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3561" y="3573016"/>
            <a:ext cx="5851541" cy="3284984"/>
          </a:xfrm>
          <a:prstGeom prst="rect">
            <a:avLst/>
          </a:prstGeom>
          <a:noFill/>
          <a:effectLst>
            <a:innerShdw blurRad="114300">
              <a:prstClr val="black"/>
            </a:inn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Рисунок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75" y="3980933"/>
            <a:ext cx="2995533" cy="2160240"/>
          </a:xfrm>
          <a:prstGeom prst="rect">
            <a:avLst/>
          </a:prstGeom>
          <a:effectLst>
            <a:innerShdw blurRad="114300">
              <a:prstClr val="black"/>
            </a:innerShdw>
          </a:effectLst>
        </p:spPr>
      </p:pic>
    </p:spTree>
    <p:extLst>
      <p:ext uri="{BB962C8B-B14F-4D97-AF65-F5344CB8AC3E}">
        <p14:creationId xmlns:p14="http://schemas.microsoft.com/office/powerpoint/2010/main" val="27649823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ъект 1"/>
          <p:cNvSpPr>
            <a:spLocks noGrp="1"/>
          </p:cNvSpPr>
          <p:nvPr>
            <p:ph idx="1"/>
          </p:nvPr>
        </p:nvSpPr>
        <p:spPr>
          <a:xfrm>
            <a:off x="699247" y="2248347"/>
            <a:ext cx="3872753" cy="3877815"/>
          </a:xfrm>
        </p:spPr>
        <p:txBody>
          <a:bodyPr/>
          <a:lstStyle/>
          <a:p>
            <a:r>
              <a:rPr lang="ru-RU" dirty="0"/>
              <a:t>Показал, как движутся данные между процессами и хранилищами: от заявки клиента до выплаты.</a:t>
            </a:r>
          </a:p>
        </p:txBody>
      </p:sp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 smtClean="0"/>
              <a:t>Модель</a:t>
            </a:r>
            <a:r>
              <a:rPr lang="en-US" b="1" dirty="0" smtClean="0"/>
              <a:t> DFD</a:t>
            </a:r>
            <a:endParaRPr lang="ru-RU" dirty="0"/>
          </a:p>
        </p:txBody>
      </p:sp>
      <p:pic>
        <p:nvPicPr>
          <p:cNvPr id="2050" name="Picture 2" descr="C:\Users\priko\Downloads\DFD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9962" y="2230388"/>
            <a:ext cx="3860583" cy="4073125"/>
          </a:xfrm>
          <a:prstGeom prst="rect">
            <a:avLst/>
          </a:prstGeom>
          <a:noFill/>
          <a:effectLst>
            <a:innerShdw blurRad="114300">
              <a:prstClr val="black"/>
            </a:inn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808679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ъект 1"/>
          <p:cNvSpPr>
            <a:spLocks noGrp="1"/>
          </p:cNvSpPr>
          <p:nvPr>
            <p:ph idx="1"/>
          </p:nvPr>
        </p:nvSpPr>
        <p:spPr>
          <a:xfrm>
            <a:off x="683568" y="2060848"/>
            <a:ext cx="7977209" cy="1180653"/>
          </a:xfrm>
        </p:spPr>
        <p:txBody>
          <a:bodyPr>
            <a:normAutofit fontScale="62500" lnSpcReduction="20000"/>
          </a:bodyPr>
          <a:lstStyle/>
          <a:p>
            <a:r>
              <a:rPr lang="ru-RU" dirty="0"/>
              <a:t>Варианты использования </a:t>
            </a:r>
            <a:r>
              <a:rPr lang="en-US" dirty="0" smtClean="0"/>
              <a:t>- </a:t>
            </a:r>
            <a:r>
              <a:rPr lang="ru-RU" dirty="0" smtClean="0"/>
              <a:t>кто </a:t>
            </a:r>
            <a:r>
              <a:rPr lang="ru-RU" dirty="0"/>
              <a:t>и что может делать в системе</a:t>
            </a:r>
            <a:r>
              <a:rPr lang="ru-RU" dirty="0" smtClean="0"/>
              <a:t>.</a:t>
            </a:r>
            <a:endParaRPr lang="ru-RU" dirty="0"/>
          </a:p>
          <a:p>
            <a:r>
              <a:rPr lang="ru-RU" dirty="0"/>
              <a:t>Деятельности </a:t>
            </a:r>
            <a:r>
              <a:rPr lang="en-US" dirty="0" smtClean="0"/>
              <a:t>- </a:t>
            </a:r>
            <a:r>
              <a:rPr lang="ru-RU" dirty="0" smtClean="0"/>
              <a:t>пошаговый </a:t>
            </a:r>
            <a:r>
              <a:rPr lang="ru-RU" dirty="0"/>
              <a:t>сценарий оформления полиса с разделением на дорожки (клиент, менеджер, оценщик</a:t>
            </a:r>
            <a:r>
              <a:rPr lang="ru-RU" dirty="0" smtClean="0"/>
              <a:t>).</a:t>
            </a:r>
            <a:endParaRPr lang="ru-RU" dirty="0"/>
          </a:p>
          <a:p>
            <a:r>
              <a:rPr lang="ru-RU" dirty="0"/>
              <a:t>Последовательности </a:t>
            </a:r>
            <a:r>
              <a:rPr lang="en-US" dirty="0" smtClean="0"/>
              <a:t>- </a:t>
            </a:r>
            <a:r>
              <a:rPr lang="ru-RU" dirty="0" smtClean="0"/>
              <a:t>детальный </a:t>
            </a:r>
            <a:r>
              <a:rPr lang="ru-RU" dirty="0"/>
              <a:t>обмен сообщениями при онлайн-оплате</a:t>
            </a:r>
            <a:r>
              <a:rPr lang="ru-RU" dirty="0" smtClean="0"/>
              <a:t>.</a:t>
            </a:r>
            <a:endParaRPr lang="ru-RU" dirty="0"/>
          </a:p>
          <a:p>
            <a:r>
              <a:rPr lang="ru-RU" dirty="0"/>
              <a:t>Классов </a:t>
            </a:r>
            <a:r>
              <a:rPr lang="en-US" dirty="0" smtClean="0"/>
              <a:t>- </a:t>
            </a:r>
            <a:r>
              <a:rPr lang="ru-RU" dirty="0" smtClean="0"/>
              <a:t>структура </a:t>
            </a:r>
            <a:r>
              <a:rPr lang="ru-RU" dirty="0"/>
              <a:t>данных в коде: атрибуты, методы, связи между объектами.</a:t>
            </a:r>
          </a:p>
        </p:txBody>
      </p:sp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UML-</a:t>
            </a:r>
            <a:r>
              <a:rPr lang="ru-RU" b="1" dirty="0" smtClean="0"/>
              <a:t>диаграммы</a:t>
            </a:r>
            <a:endParaRPr lang="ru-RU" dirty="0"/>
          </a:p>
        </p:txBody>
      </p:sp>
      <p:pic>
        <p:nvPicPr>
          <p:cNvPr id="3074" name="Picture 2" descr="C:\Users\priko\Downloads\Вариантов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496" y="3162675"/>
            <a:ext cx="3312367" cy="2273282"/>
          </a:xfrm>
          <a:prstGeom prst="rect">
            <a:avLst/>
          </a:prstGeom>
          <a:noFill/>
          <a:effectLst>
            <a:innerShdw blurRad="114300">
              <a:prstClr val="black"/>
            </a:inn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5" name="Picture 3" descr="C:\Users\priko\Downloads\Деятельности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60232" y="3212976"/>
            <a:ext cx="2374379" cy="2637833"/>
          </a:xfrm>
          <a:prstGeom prst="rect">
            <a:avLst/>
          </a:prstGeom>
          <a:noFill/>
          <a:effectLst>
            <a:innerShdw blurRad="114300">
              <a:prstClr val="black"/>
            </a:inn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C:\Users\priko\Downloads\Последовательности.png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66944" y="3162675"/>
            <a:ext cx="2043205" cy="2688134"/>
          </a:xfrm>
          <a:prstGeom prst="rect">
            <a:avLst/>
          </a:prstGeom>
          <a:noFill/>
          <a:effectLst>
            <a:innerShdw blurRad="114300">
              <a:prstClr val="black"/>
            </a:inn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7" name="Picture 5" descr="C:\Users\priko\Downloads\Классов.png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1600" y="5301207"/>
            <a:ext cx="3056374" cy="1493487"/>
          </a:xfrm>
          <a:prstGeom prst="rect">
            <a:avLst/>
          </a:prstGeom>
          <a:noFill/>
          <a:effectLst>
            <a:innerShdw blurRad="114300">
              <a:prstClr val="black"/>
            </a:inn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197374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ъект 1"/>
          <p:cNvSpPr>
            <a:spLocks noGrp="1"/>
          </p:cNvSpPr>
          <p:nvPr>
            <p:ph idx="1"/>
          </p:nvPr>
        </p:nvSpPr>
        <p:spPr>
          <a:xfrm>
            <a:off x="107504" y="1965216"/>
            <a:ext cx="3368697" cy="1584176"/>
          </a:xfrm>
        </p:spPr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ru-RU" b="1" dirty="0"/>
              <a:t>Концептуальная модель (нотация </a:t>
            </a:r>
            <a:r>
              <a:rPr lang="ru-RU" b="1" dirty="0" err="1"/>
              <a:t>Чена</a:t>
            </a:r>
            <a:r>
              <a:rPr lang="ru-RU" b="1" dirty="0"/>
              <a:t>):</a:t>
            </a:r>
            <a:r>
              <a:rPr lang="ru-RU" dirty="0"/>
              <a:t/>
            </a:r>
            <a:br>
              <a:rPr lang="ru-RU" dirty="0"/>
            </a:br>
            <a:r>
              <a:rPr lang="ru-RU" dirty="0"/>
              <a:t>8 сущностей:</a:t>
            </a:r>
          </a:p>
          <a:p>
            <a:r>
              <a:rPr lang="ru-RU" dirty="0"/>
              <a:t>Клиент, Автомобиль, Сотрудник,</a:t>
            </a:r>
          </a:p>
          <a:p>
            <a:r>
              <a:rPr lang="ru-RU" dirty="0"/>
              <a:t>Полис, Платёж,</a:t>
            </a:r>
          </a:p>
          <a:p>
            <a:r>
              <a:rPr lang="ru-RU" dirty="0"/>
              <a:t>Страховой случай (ДТП), Оценка ущерба, Выплата.</a:t>
            </a:r>
            <a:br>
              <a:rPr lang="ru-RU" dirty="0"/>
            </a:br>
            <a:r>
              <a:rPr lang="ru-RU" dirty="0"/>
              <a:t>Показал все связи, типы «один-ко-многим</a:t>
            </a:r>
            <a:r>
              <a:rPr lang="ru-RU" dirty="0" smtClean="0"/>
              <a:t>».</a:t>
            </a:r>
            <a:endParaRPr lang="ru-RU" dirty="0"/>
          </a:p>
        </p:txBody>
      </p:sp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z="4400" dirty="0"/>
              <a:t>База данных. Концептуальная и логическая модели</a:t>
            </a:r>
          </a:p>
        </p:txBody>
      </p:sp>
      <p:sp>
        <p:nvSpPr>
          <p:cNvPr id="4" name="Прямоугольник 3"/>
          <p:cNvSpPr/>
          <p:nvPr/>
        </p:nvSpPr>
        <p:spPr>
          <a:xfrm>
            <a:off x="4932040" y="1988840"/>
            <a:ext cx="4155172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b="1" dirty="0"/>
              <a:t>Логическая модель:</a:t>
            </a:r>
            <a:r>
              <a:rPr lang="ru-RU" dirty="0"/>
              <a:t/>
            </a:r>
            <a:br>
              <a:rPr lang="ru-RU" dirty="0"/>
            </a:br>
            <a:r>
              <a:rPr lang="ru-RU" dirty="0"/>
              <a:t>Превратил сущности в таблицы.</a:t>
            </a:r>
            <a:br>
              <a:rPr lang="ru-RU" dirty="0"/>
            </a:br>
            <a:r>
              <a:rPr lang="ru-RU" dirty="0"/>
              <a:t>Определил первичные и внешние ключи, типы данных.</a:t>
            </a:r>
            <a:br>
              <a:rPr lang="ru-RU" dirty="0"/>
            </a:br>
            <a:r>
              <a:rPr lang="ru-RU" dirty="0"/>
              <a:t>Привёл схему к </a:t>
            </a:r>
            <a:r>
              <a:rPr lang="ru-RU" b="1" dirty="0"/>
              <a:t>третьей нормальной форме</a:t>
            </a:r>
            <a:r>
              <a:rPr lang="ru-RU" dirty="0"/>
              <a:t> </a:t>
            </a:r>
            <a:r>
              <a:rPr lang="en-US" dirty="0"/>
              <a:t>- </a:t>
            </a:r>
            <a:r>
              <a:rPr lang="ru-RU" dirty="0"/>
              <a:t>без дублирования и противоречий.</a:t>
            </a:r>
          </a:p>
        </p:txBody>
      </p:sp>
      <p:pic>
        <p:nvPicPr>
          <p:cNvPr id="4098" name="Picture 2" descr="C:\Users\priko\Downloads\Логическая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55976" y="4581128"/>
            <a:ext cx="4645249" cy="2089583"/>
          </a:xfrm>
          <a:prstGeom prst="rect">
            <a:avLst/>
          </a:prstGeom>
          <a:noFill/>
          <a:effectLst>
            <a:innerShdw blurRad="114300">
              <a:prstClr val="black"/>
            </a:inn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099" name="Picture 3" descr="C:\Users\priko\Downloads\ER-Диаграмма(нотация Чена)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507" y="3284985"/>
            <a:ext cx="4041453" cy="3482940"/>
          </a:xfrm>
          <a:prstGeom prst="rect">
            <a:avLst/>
          </a:prstGeom>
          <a:noFill/>
          <a:effectLst>
            <a:innerShdw blurRad="114300">
              <a:prstClr val="black"/>
            </a:inn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627987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ъект 1"/>
          <p:cNvSpPr>
            <a:spLocks noGrp="1"/>
          </p:cNvSpPr>
          <p:nvPr>
            <p:ph idx="1"/>
          </p:nvPr>
        </p:nvSpPr>
        <p:spPr>
          <a:xfrm>
            <a:off x="699247" y="2248347"/>
            <a:ext cx="7745505" cy="1828725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ru-RU" dirty="0"/>
              <a:t>Физическая реализация</a:t>
            </a:r>
            <a:r>
              <a:rPr lang="ru-RU" dirty="0" smtClean="0"/>
              <a:t>:</a:t>
            </a:r>
            <a:endParaRPr lang="ru-RU" dirty="0"/>
          </a:p>
          <a:p>
            <a:r>
              <a:rPr lang="ru-RU" dirty="0"/>
              <a:t>СУБД: </a:t>
            </a:r>
            <a:r>
              <a:rPr lang="ru-RU" dirty="0" err="1"/>
              <a:t>MySQL</a:t>
            </a:r>
            <a:r>
              <a:rPr lang="ru-RU" dirty="0"/>
              <a:t> 8.0</a:t>
            </a:r>
            <a:r>
              <a:rPr lang="ru-RU" dirty="0" smtClean="0"/>
              <a:t>.</a:t>
            </a:r>
            <a:endParaRPr lang="ru-RU" dirty="0"/>
          </a:p>
          <a:p>
            <a:r>
              <a:rPr lang="ru-RU" dirty="0"/>
              <a:t>Среда: </a:t>
            </a:r>
            <a:r>
              <a:rPr lang="ru-RU" dirty="0" err="1"/>
              <a:t>Open</a:t>
            </a:r>
            <a:r>
              <a:rPr lang="ru-RU" dirty="0"/>
              <a:t> </a:t>
            </a:r>
            <a:r>
              <a:rPr lang="ru-RU" dirty="0" err="1"/>
              <a:t>Server</a:t>
            </a:r>
            <a:r>
              <a:rPr lang="ru-RU" dirty="0"/>
              <a:t> + </a:t>
            </a:r>
            <a:r>
              <a:rPr lang="ru-RU" dirty="0" err="1"/>
              <a:t>phpMyAdmin</a:t>
            </a:r>
            <a:r>
              <a:rPr lang="ru-RU" dirty="0" smtClean="0"/>
              <a:t>.</a:t>
            </a:r>
            <a:endParaRPr lang="ru-RU" dirty="0"/>
          </a:p>
          <a:p>
            <a:r>
              <a:rPr lang="ru-RU" dirty="0"/>
              <a:t>Кодировка: utf8mb4 (корректно с русским языком</a:t>
            </a:r>
            <a:r>
              <a:rPr lang="ru-RU" dirty="0" smtClean="0"/>
              <a:t>).</a:t>
            </a:r>
            <a:endParaRPr lang="ru-RU" dirty="0"/>
          </a:p>
          <a:p>
            <a:r>
              <a:rPr lang="ru-RU" dirty="0"/>
              <a:t>Таблицы </a:t>
            </a:r>
            <a:r>
              <a:rPr lang="ru-RU" dirty="0" smtClean="0"/>
              <a:t>заполнены </a:t>
            </a:r>
            <a:r>
              <a:rPr lang="ru-RU" dirty="0"/>
              <a:t>тестовыми данными: клиенты Тюменской области, реальные марки авто, даты полисов и ДТП.</a:t>
            </a:r>
          </a:p>
        </p:txBody>
      </p:sp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База данных. Физическая </a:t>
            </a:r>
            <a:r>
              <a:rPr lang="ru-RU" dirty="0" smtClean="0"/>
              <a:t>модель</a:t>
            </a:r>
            <a:endParaRPr lang="ru-RU" dirty="0"/>
          </a:p>
        </p:txBody>
      </p:sp>
      <p:pic>
        <p:nvPicPr>
          <p:cNvPr id="4" name="Рисунок 3"/>
          <p:cNvPicPr/>
          <p:nvPr/>
        </p:nvPicPr>
        <p:blipFill>
          <a:blip r:embed="rId2"/>
          <a:stretch>
            <a:fillRect/>
          </a:stretch>
        </p:blipFill>
        <p:spPr>
          <a:xfrm>
            <a:off x="803940" y="4221088"/>
            <a:ext cx="7837040" cy="24482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69454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ъект 1"/>
          <p:cNvSpPr>
            <a:spLocks noGrp="1"/>
          </p:cNvSpPr>
          <p:nvPr>
            <p:ph idx="1"/>
          </p:nvPr>
        </p:nvSpPr>
        <p:spPr>
          <a:xfrm>
            <a:off x="699247" y="2248347"/>
            <a:ext cx="3800745" cy="3877815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ru-RU" dirty="0"/>
          </a:p>
        </p:txBody>
      </p:sp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Интерфейс и итог работы</a:t>
            </a:r>
            <a:br>
              <a:rPr lang="ru-RU" b="1" dirty="0"/>
            </a:br>
            <a:endParaRPr lang="ru-RU" dirty="0"/>
          </a:p>
        </p:txBody>
      </p:sp>
      <p:pic>
        <p:nvPicPr>
          <p:cNvPr id="5" name="Рисунок 4"/>
          <p:cNvPicPr/>
          <p:nvPr/>
        </p:nvPicPr>
        <p:blipFill>
          <a:blip r:embed="rId2"/>
          <a:stretch>
            <a:fillRect/>
          </a:stretch>
        </p:blipFill>
        <p:spPr>
          <a:xfrm>
            <a:off x="467544" y="4293096"/>
            <a:ext cx="3456384" cy="2266540"/>
          </a:xfrm>
          <a:prstGeom prst="rect">
            <a:avLst/>
          </a:prstGeom>
        </p:spPr>
      </p:pic>
      <p:pic>
        <p:nvPicPr>
          <p:cNvPr id="6" name="Рисунок 5"/>
          <p:cNvPicPr/>
          <p:nvPr/>
        </p:nvPicPr>
        <p:blipFill>
          <a:blip r:embed="rId3"/>
          <a:stretch>
            <a:fillRect/>
          </a:stretch>
        </p:blipFill>
        <p:spPr>
          <a:xfrm>
            <a:off x="3347864" y="1916832"/>
            <a:ext cx="2873578" cy="2043664"/>
          </a:xfrm>
          <a:prstGeom prst="rect">
            <a:avLst/>
          </a:prstGeom>
        </p:spPr>
      </p:pic>
      <p:pic>
        <p:nvPicPr>
          <p:cNvPr id="7" name="Рисунок 6"/>
          <p:cNvPicPr/>
          <p:nvPr/>
        </p:nvPicPr>
        <p:blipFill>
          <a:blip r:embed="rId4"/>
          <a:stretch>
            <a:fillRect/>
          </a:stretch>
        </p:blipFill>
        <p:spPr>
          <a:xfrm>
            <a:off x="6457622" y="1015774"/>
            <a:ext cx="2448272" cy="2944722"/>
          </a:xfrm>
          <a:prstGeom prst="rect">
            <a:avLst/>
          </a:prstGeom>
        </p:spPr>
      </p:pic>
      <p:pic>
        <p:nvPicPr>
          <p:cNvPr id="8" name="Рисунок 7"/>
          <p:cNvPicPr/>
          <p:nvPr/>
        </p:nvPicPr>
        <p:blipFill>
          <a:blip r:embed="rId5"/>
          <a:stretch>
            <a:fillRect/>
          </a:stretch>
        </p:blipFill>
        <p:spPr>
          <a:xfrm>
            <a:off x="4873446" y="4077072"/>
            <a:ext cx="4032448" cy="2628672"/>
          </a:xfrm>
          <a:prstGeom prst="rect">
            <a:avLst/>
          </a:prstGeom>
        </p:spPr>
      </p:pic>
      <p:pic>
        <p:nvPicPr>
          <p:cNvPr id="1026" name="Picture 2" descr="C:\Users\priko\Downloads\s.png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9512" y="930778"/>
            <a:ext cx="2814654" cy="31147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7448946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Твердый переплет">
  <a:themeElements>
    <a:clrScheme name="Твердый переплет">
      <a:dk1>
        <a:sysClr val="windowText" lastClr="000000"/>
      </a:dk1>
      <a:lt1>
        <a:sysClr val="window" lastClr="FFFFFF"/>
      </a:lt1>
      <a:dk2>
        <a:srgbClr val="895D1D"/>
      </a:dk2>
      <a:lt2>
        <a:srgbClr val="ECE9C6"/>
      </a:lt2>
      <a:accent1>
        <a:srgbClr val="873624"/>
      </a:accent1>
      <a:accent2>
        <a:srgbClr val="D6862D"/>
      </a:accent2>
      <a:accent3>
        <a:srgbClr val="D0BE40"/>
      </a:accent3>
      <a:accent4>
        <a:srgbClr val="877F6C"/>
      </a:accent4>
      <a:accent5>
        <a:srgbClr val="972109"/>
      </a:accent5>
      <a:accent6>
        <a:srgbClr val="AEB795"/>
      </a:accent6>
      <a:hlink>
        <a:srgbClr val="CC9900"/>
      </a:hlink>
      <a:folHlink>
        <a:srgbClr val="B2B2B2"/>
      </a:folHlink>
    </a:clrScheme>
    <a:fontScheme name="Твердый переплет">
      <a:majorFont>
        <a:latin typeface="Book Antiqua"/>
        <a:ea typeface=""/>
        <a:cs typeface=""/>
        <a:font script="Grek" typeface="Times New Roman"/>
        <a:font script="Cyrl" typeface="Times New Roman"/>
        <a:font script="Jpan" typeface="HGS明朝E"/>
        <a:font script="Hang" typeface="궁서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Book Antiqua"/>
        <a:ea typeface=""/>
        <a:cs typeface=""/>
        <a:font script="Grek" typeface="Times New Roman"/>
        <a:font script="Cyrl" typeface="Times New Roman"/>
        <a:font script="Jpan" typeface="HGS明朝E"/>
        <a:font script="Hang" typeface="돋움"/>
        <a:font script="Hans" typeface="宋体"/>
        <a:font script="Hant" typeface="新細明體"/>
        <a:font script="Arab" typeface="Times New Roman"/>
        <a:font script="Hebr" typeface="David"/>
        <a:font script="Thai" typeface="Eucrosia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Твердый переплет">
      <a:fillStyleLst>
        <a:solidFill>
          <a:schemeClr val="phClr"/>
        </a:solidFill>
        <a:solidFill>
          <a:schemeClr val="phClr">
            <a:tint val="68000"/>
            <a:shade val="94000"/>
            <a:satMod val="300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80000"/>
                <a:lumMod val="98000"/>
              </a:schemeClr>
            </a:gs>
            <a:gs pos="100000">
              <a:schemeClr val="phClr">
                <a:satMod val="130000"/>
              </a:schemeClr>
            </a:gs>
          </a:gsLst>
          <a:lin ang="5160000" scaled="0"/>
        </a:gradFill>
      </a:fillStyleLst>
      <a:lnStyleLst>
        <a:ln w="12700" cap="flat" cmpd="sng" algn="ctr">
          <a:solidFill>
            <a:schemeClr val="phClr">
              <a:shade val="90000"/>
              <a:lumMod val="90000"/>
            </a:schemeClr>
          </a:solidFill>
          <a:prstDash val="solid"/>
        </a:ln>
        <a:ln w="19050" cap="flat" cmpd="sng" algn="ctr">
          <a:solidFill>
            <a:schemeClr val="phClr">
              <a:shade val="75000"/>
              <a:lumMod val="90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12700" dir="5400000" rotWithShape="0">
              <a:srgbClr val="000000">
                <a:alpha val="15000"/>
              </a:srgbClr>
            </a:outerShdw>
          </a:effectLst>
        </a:effectStyle>
        <a:effectStyle>
          <a:effectLst>
            <a:outerShdw blurRad="50800" dist="25400" dir="5400000" rotWithShape="0">
              <a:srgbClr val="000000">
                <a:alpha val="46000"/>
              </a:srgbClr>
            </a:outerShdw>
          </a:effectLst>
        </a:effectStyle>
        <a:effectStyle>
          <a:effectLst>
            <a:outerShdw blurRad="50800" dist="25400" dir="5400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2400000"/>
            </a:lightRig>
          </a:scene3d>
          <a:sp3d>
            <a:bevelT w="25400" h="25400"/>
          </a:sp3d>
        </a:effectStyle>
      </a:effectStyleLst>
      <a:bgFillStyleLst>
        <a:solidFill>
          <a:schemeClr val="phClr">
            <a:tint val="96000"/>
            <a:lumMod val="110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3000"/>
                <a:shade val="20000"/>
              </a:schemeClr>
              <a:schemeClr val="phClr">
                <a:tint val="90000"/>
                <a:shade val="85000"/>
                <a:satMod val="115000"/>
              </a:schemeClr>
            </a:duotone>
          </a:blip>
          <a:tile tx="0" ty="0" sx="60000" sy="60000" flip="none" algn="tl"/>
        </a:blipFill>
        <a:blipFill rotWithShape="1">
          <a:blip xmlns:r="http://schemas.openxmlformats.org/officeDocument/2006/relationships" r:embed="rId2">
            <a:duotone>
              <a:schemeClr val="phClr">
                <a:shade val="50000"/>
                <a:satMod val="340000"/>
                <a:lumMod val="40000"/>
              </a:schemeClr>
              <a:schemeClr val="phClr">
                <a:tint val="92000"/>
                <a:shade val="94000"/>
                <a:hueMod val="110000"/>
                <a:satMod val="236000"/>
                <a:lumMod val="120000"/>
              </a:schemeClr>
            </a:duotone>
          </a:blip>
          <a:stretch/>
        </a:blip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Hardcover</Template>
  <TotalTime>80</TotalTime>
  <Words>561</Words>
  <Application>Microsoft Office PowerPoint</Application>
  <PresentationFormat>Экран (4:3)</PresentationFormat>
  <Paragraphs>73</Paragraphs>
  <Slides>11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11</vt:i4>
      </vt:variant>
    </vt:vector>
  </HeadingPairs>
  <TitlesOfParts>
    <vt:vector size="16" baseType="lpstr">
      <vt:lpstr>Book Antiqua</vt:lpstr>
      <vt:lpstr>Calibri</vt:lpstr>
      <vt:lpstr>Times New Roman</vt:lpstr>
      <vt:lpstr>Wingdings</vt:lpstr>
      <vt:lpstr>Твердый переплет</vt:lpstr>
      <vt:lpstr>Проектирование информационной системы «Страховая компания»</vt:lpstr>
      <vt:lpstr>Актуальность работы</vt:lpstr>
      <vt:lpstr>Что автоматизируем</vt:lpstr>
      <vt:lpstr>Кто пользуется системой</vt:lpstr>
      <vt:lpstr>Сравнение с аналогами</vt:lpstr>
      <vt:lpstr>Модель IDEF0</vt:lpstr>
      <vt:lpstr>Модель DFD</vt:lpstr>
      <vt:lpstr>UML-диаграммы</vt:lpstr>
      <vt:lpstr>База данных. Концептуальная и логическая модели</vt:lpstr>
      <vt:lpstr>База данных. Физическая модель</vt:lpstr>
      <vt:lpstr>Интерфейс и итог работы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Проектирование информационной системы «Страховая компания»</dc:title>
  <dc:creator>Maks Bogatyr</dc:creator>
  <cp:lastModifiedBy>Student</cp:lastModifiedBy>
  <cp:revision>9</cp:revision>
  <dcterms:created xsi:type="dcterms:W3CDTF">2026-05-13T21:16:55Z</dcterms:created>
  <dcterms:modified xsi:type="dcterms:W3CDTF">2026-05-14T11:02:22Z</dcterms:modified>
</cp:coreProperties>
</file>